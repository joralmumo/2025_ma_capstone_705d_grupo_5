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ExtraLight"/>
      <p:regular r:id="rId17"/>
      <p:bold r:id="rId18"/>
      <p:italic r:id="rId19"/>
      <p:boldItalic r:id="rId20"/>
    </p:embeddedFont>
    <p:embeddedFont>
      <p:font typeface="Roboto Black"/>
      <p:bold r:id="rId21"/>
      <p:boldItalic r:id="rId22"/>
    </p:embeddedFont>
    <p:embeddedFont>
      <p:font typeface="Raleway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Prosto One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ExtraLight-boldItalic.fntdata"/><Relationship Id="rId22" Type="http://schemas.openxmlformats.org/officeDocument/2006/relationships/font" Target="fonts/RobotoBlack-boldItalic.fntdata"/><Relationship Id="rId21" Type="http://schemas.openxmlformats.org/officeDocument/2006/relationships/font" Target="fonts/RobotoBlack-bold.fntdata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bold.fntdata"/><Relationship Id="rId13" Type="http://schemas.openxmlformats.org/officeDocument/2006/relationships/slide" Target="slides/slide8.xml"/><Relationship Id="rId35" Type="http://schemas.openxmlformats.org/officeDocument/2006/relationships/font" Target="fonts/ProstoOne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ExtraLight-regular.fntdata"/><Relationship Id="rId16" Type="http://schemas.openxmlformats.org/officeDocument/2006/relationships/slide" Target="slides/slide11.xml"/><Relationship Id="rId19" Type="http://schemas.openxmlformats.org/officeDocument/2006/relationships/font" Target="fonts/RobotoExtraLight-italic.fntdata"/><Relationship Id="rId18" Type="http://schemas.openxmlformats.org/officeDocument/2006/relationships/font" Target="fonts/RobotoExtra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b95260bb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b95260bb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b95260bb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b95260bb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b95260b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b95260b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b95260bb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b95260bb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b95260bb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b95260bb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b95260bb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b95260bb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b95260bb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b95260bb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b95260bb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b95260bb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b95260bb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b95260bb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b95260bbd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b95260bbd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6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6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hyperlink" Target="https://docs.google.com/spreadsheets/d/1hBEs5B5SGBu1vjYZn2nz1zUOT6QLSUOqz9BoPa1jT8o/edit?usp=sharing" TargetMode="External"/><Relationship Id="rId5" Type="http://schemas.openxmlformats.org/officeDocument/2006/relationships/image" Target="../media/image2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1738D"/>
            </a:gs>
            <a:gs pos="38000">
              <a:srgbClr val="00BA7B"/>
            </a:gs>
            <a:gs pos="100000">
              <a:schemeClr val="lt1"/>
            </a:gs>
          </a:gsLst>
          <a:lin ang="8100019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099400" y="502888"/>
            <a:ext cx="4710600" cy="1092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590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InstaCotiza</a:t>
            </a:r>
            <a:endParaRPr sz="5900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55" name="Google Shape;55;p13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475" y="455088"/>
            <a:ext cx="1188524" cy="11885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6" name="Google Shape;56;p13"/>
          <p:cNvSpPr txBox="1"/>
          <p:nvPr/>
        </p:nvSpPr>
        <p:spPr>
          <a:xfrm>
            <a:off x="4819400" y="1717263"/>
            <a:ext cx="3990600" cy="2678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Miembros:</a:t>
            </a:r>
            <a:endParaRPr i="1" sz="1800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342900" lvl="0" marL="45720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b="1" i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Valentina Jamett</a:t>
            </a:r>
            <a:endParaRPr b="1"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b="1" i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Jorge Muñoz</a:t>
            </a:r>
            <a:endParaRPr b="1"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Profesor: </a:t>
            </a:r>
            <a:endParaRPr i="1" sz="1800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342900" lvl="0" marL="45720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b="1" i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Ricardo Aravena</a:t>
            </a:r>
            <a:endParaRPr b="1"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Cliente (Early adopter):</a:t>
            </a:r>
            <a:endParaRPr i="1" sz="1800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342900" lvl="0" marL="45720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b="1" i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JMP Impermeabilizaciones</a:t>
            </a:r>
            <a:endParaRPr b="1"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Contexto y Proceso Actual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3" name="Google Shape;63;p14"/>
          <p:cNvSpPr/>
          <p:nvPr/>
        </p:nvSpPr>
        <p:spPr>
          <a:xfrm>
            <a:off x="512050" y="1303825"/>
            <a:ext cx="3627000" cy="33771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JMP Impermeabilizaciones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empresa del rubro de la construcción y las obras civiles, busca </a:t>
            </a: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mejorar su eficiencia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al momento de cotizar sus trabajos. 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Actualmente sus procesos requieren de</a:t>
            </a: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tareas manuales 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 que involucran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altos tiempos de espera para poder realizar las cotizaciones desde su oficina. 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412675"/>
            <a:ext cx="4042250" cy="1819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descr="Finance concept. Man writing and make note about cost (proporcionado por Getty Images)" id="65" name="Google Shape;65;p14"/>
          <p:cNvPicPr preferRelativeResize="0"/>
          <p:nvPr/>
        </p:nvPicPr>
        <p:blipFill rotWithShape="1">
          <a:blip r:embed="rId5">
            <a:alphaModFix/>
          </a:blip>
          <a:srcRect b="0" l="0" r="0" t="27188"/>
          <a:stretch/>
        </p:blipFill>
        <p:spPr>
          <a:xfrm>
            <a:off x="4572000" y="2719200"/>
            <a:ext cx="4042250" cy="196172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Contexto y Proceso Actual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619" y="1442444"/>
            <a:ext cx="8476748" cy="28222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Descripción del Proyecto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9" name="Google Shape;79;p16"/>
          <p:cNvSpPr/>
          <p:nvPr/>
        </p:nvSpPr>
        <p:spPr>
          <a:xfrm>
            <a:off x="512050" y="1303825"/>
            <a:ext cx="3627000" cy="33771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Instacotiza es una solución para </a:t>
            </a: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acelerar los procesos de negocio 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 las empresas, entregándoles un centro para crear, generar y gestionar cotizaciones para sus clientes desde cualquier dispositivo.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 un actual foco particular en las obras civiles y con una mirada a expandirse a más rubros en el futuro.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4433400" y="935838"/>
            <a:ext cx="4710600" cy="2909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90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COTIZA</a:t>
            </a:r>
            <a:endParaRPr sz="5900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90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CREA</a:t>
            </a:r>
            <a:endParaRPr sz="5900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90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GESTIONA</a:t>
            </a:r>
            <a:endParaRPr sz="5900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4572000" y="3745963"/>
            <a:ext cx="3990600" cy="461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fácil y en minutos… o quizá menos.</a:t>
            </a:r>
            <a:endParaRPr i="1" sz="1800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</p:txBody>
      </p:sp>
      <p:pic>
        <p:nvPicPr>
          <p:cNvPr descr="a pixel art drawing of a butterfly with a checkered pattern on the wings . (proporcionado por Tenor)"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8100" y="2055725"/>
            <a:ext cx="669350" cy="669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Alcances Principales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89" name="Google Shape;89;p17"/>
          <p:cNvSpPr/>
          <p:nvPr/>
        </p:nvSpPr>
        <p:spPr>
          <a:xfrm>
            <a:off x="512050" y="1303825"/>
            <a:ext cx="3627000" cy="33771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Generar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documentos de 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otización con cálculos actualizados al instante.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Exportar e importar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cotizaciones en local.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Guardar y cargar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cotizaciones en la nube.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Gestionar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 llevar seguimiento de las cotizaciones.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4336925" y="999775"/>
            <a:ext cx="4522500" cy="2793000"/>
          </a:xfrm>
          <a:prstGeom prst="rect">
            <a:avLst/>
          </a:prstGeom>
          <a:noFill/>
          <a:ln>
            <a:noFill/>
          </a:ln>
          <a:effectLst>
            <a:outerShdw blurRad="54867" rotWithShape="0" algn="bl" dir="5400000" dist="18289">
              <a:srgbClr val="000000">
                <a:alpha val="50000"/>
              </a:srgbClr>
            </a:outerShdw>
          </a:effectLst>
        </p:spPr>
        <p:txBody>
          <a:bodyPr anchorCtr="0" anchor="t" bIns="87775" lIns="87775" spcFirstLastPara="1" rIns="87775" wrap="square" tIns="87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64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COTIZA</a:t>
            </a:r>
            <a:endParaRPr sz="5664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64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CREA</a:t>
            </a:r>
            <a:endParaRPr sz="5664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64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GESTIONA</a:t>
            </a:r>
            <a:endParaRPr sz="5664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4432539" y="3723233"/>
            <a:ext cx="4627200" cy="535500"/>
          </a:xfrm>
          <a:prstGeom prst="rect">
            <a:avLst/>
          </a:prstGeom>
          <a:noFill/>
          <a:ln>
            <a:noFill/>
          </a:ln>
          <a:effectLst>
            <a:outerShdw blurRad="66265" rotWithShape="0" algn="bl" dir="5400000" dist="22088">
              <a:srgbClr val="000000">
                <a:alpha val="50000"/>
              </a:srgbClr>
            </a:outerShdw>
          </a:effectLst>
        </p:spPr>
        <p:txBody>
          <a:bodyPr anchorCtr="0" anchor="t" bIns="106000" lIns="106000" spcFirstLastPara="1" rIns="106000" wrap="square" tIns="106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087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en palabras sencillas.</a:t>
            </a:r>
            <a:endParaRPr i="1" sz="2087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</p:txBody>
      </p:sp>
      <p:pic>
        <p:nvPicPr>
          <p:cNvPr descr="a pixel art drawing of a butterfly with a checkered pattern on the wings . (proporcionado por Tenor)" id="92" name="Google Shape;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4761" y="2074928"/>
            <a:ext cx="642613" cy="642613"/>
          </a:xfrm>
          <a:prstGeom prst="rect">
            <a:avLst/>
          </a:prstGeom>
          <a:noFill/>
          <a:ln>
            <a:noFill/>
          </a:ln>
          <a:effectLst>
            <a:outerShdw blurRad="54867" rotWithShape="0" algn="bl" dir="5400000" dist="18289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Requerimientos P’pales.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9" name="Google Shape;99;p18"/>
          <p:cNvSpPr/>
          <p:nvPr/>
        </p:nvSpPr>
        <p:spPr>
          <a:xfrm>
            <a:off x="512050" y="1303825"/>
            <a:ext cx="3627000" cy="33771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FUNCIONALES</a:t>
            </a:r>
            <a:endParaRPr b="1"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Inicio de sesión / Registro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Generación de documentos de 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cotización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Guardado y carga de plantillas de cotización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Importación y exportación de plantillas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Gestión y almacenamiento de plantillas de cotización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5017000" y="1303825"/>
            <a:ext cx="3627000" cy="33771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FUNCIONALES</a:t>
            </a:r>
            <a:endParaRPr b="1"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Soportar 50 usuarios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Diseño Responsivo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Cifrado de datos sensibles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Carga eficiente entre pages (&lt;2s)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Carga de plantillas (&lt;1s)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Metodología de desarrollo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9"/>
          <p:cNvSpPr/>
          <p:nvPr/>
        </p:nvSpPr>
        <p:spPr>
          <a:xfrm>
            <a:off x="512050" y="1303825"/>
            <a:ext cx="3627000" cy="33771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utiliza una</a:t>
            </a:r>
            <a:r>
              <a:rPr b="1"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metodología ágil 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(scrum) basada en las actualizaciones, mejoras, </a:t>
            </a: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cambios semanales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(sprints) en el proyecto con participación activa del early adopter y el uso de una </a:t>
            </a: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carta gantt como guía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para tener referencias del progreso de desarrollo del proyecto en base al cumplimiento de </a:t>
            </a: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 épicas principales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i="1"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5571650" y="412675"/>
            <a:ext cx="20628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Cronograma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4728200" y="1305325"/>
            <a:ext cx="3749700" cy="337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900">
                <a:solidFill>
                  <a:srgbClr val="B7B7B7"/>
                </a:solidFill>
              </a:rPr>
              <a:t>*en términos de semanas de capstone</a:t>
            </a:r>
            <a:endParaRPr b="1" i="1" sz="900">
              <a:solidFill>
                <a:srgbClr val="B7B7B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u="sng"/>
              <a:t>S1-S4</a:t>
            </a:r>
            <a:endParaRPr b="1" i="1"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>
                <a:solidFill>
                  <a:srgbClr val="38761D"/>
                </a:solidFill>
              </a:rPr>
              <a:t>EPICA 0 - Iniciación del proyecto</a:t>
            </a:r>
            <a:endParaRPr b="1" i="1">
              <a:solidFill>
                <a:srgbClr val="38761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u="sng"/>
              <a:t>S5-S7</a:t>
            </a:r>
            <a:endParaRPr b="1" i="1"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>
                <a:solidFill>
                  <a:srgbClr val="351C75"/>
                </a:solidFill>
              </a:rPr>
              <a:t>EPICA 1 - Cotizador No-Registrados</a:t>
            </a:r>
            <a:endParaRPr b="1" i="1">
              <a:solidFill>
                <a:srgbClr val="351C7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u="sng"/>
              <a:t>S8-S10</a:t>
            </a:r>
            <a:endParaRPr b="1" i="1"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>
                <a:solidFill>
                  <a:srgbClr val="B45F06"/>
                </a:solidFill>
              </a:rPr>
              <a:t>EPICA 2 - Gestión de Usuarios</a:t>
            </a:r>
            <a:endParaRPr b="1" i="1">
              <a:solidFill>
                <a:srgbClr val="B45F0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u="sng"/>
              <a:t>S11-S12</a:t>
            </a:r>
            <a:endParaRPr b="1" i="1"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>
                <a:solidFill>
                  <a:srgbClr val="BF9000"/>
                </a:solidFill>
              </a:rPr>
              <a:t>EPICA 3 - Cotizador Registrados</a:t>
            </a:r>
            <a:endParaRPr b="1" i="1">
              <a:solidFill>
                <a:srgbClr val="BF9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u="sng"/>
              <a:t>S13-S16</a:t>
            </a:r>
            <a:endParaRPr b="1" i="1"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>
                <a:solidFill>
                  <a:srgbClr val="0B5394"/>
                </a:solidFill>
              </a:rPr>
              <a:t>EPICA 4 - Testing y Despliegue</a:t>
            </a:r>
            <a:endParaRPr b="1" i="1">
              <a:solidFill>
                <a:srgbClr val="0B5394"/>
              </a:solidFill>
            </a:endParaRPr>
          </a:p>
        </p:txBody>
      </p:sp>
      <p:pic>
        <p:nvPicPr>
          <p:cNvPr descr="a green sheet of paper with a white square in the center (proporcionado por Tenor)" id="110" name="Google Shape;110;p1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6925" y="123325"/>
            <a:ext cx="587100" cy="587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Framework de Desarrollo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descr="File:Angular gradient.png - Wikipedia" id="117" name="Google Shape;1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0760" y="1362050"/>
            <a:ext cx="1742462" cy="174246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18" name="Google Shape;11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3700" y="1140350"/>
            <a:ext cx="1898174" cy="18981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19" name="Google Shape;11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0798" y="3038537"/>
            <a:ext cx="1523927" cy="9316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0" name="Google Shape;12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69975" y="2983913"/>
            <a:ext cx="1185550" cy="11855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1" name="Google Shape;12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36874" y="3038525"/>
            <a:ext cx="1446366" cy="931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2" name="Google Shape;122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97376" y="2888850"/>
            <a:ext cx="1255500" cy="1255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Arquitectura del sistema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29" name="Google Shape;129;p21"/>
          <p:cNvSpPr/>
          <p:nvPr/>
        </p:nvSpPr>
        <p:spPr>
          <a:xfrm rot="-5400000">
            <a:off x="-358062" y="2286225"/>
            <a:ext cx="3782400" cy="1599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4725" lIns="44725" spcFirstLastPara="1" rIns="44725" wrap="square" tIns="44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rPr b="0" i="1" lang="es" sz="684" u="none" cap="none" strike="noStrike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Capa de</a:t>
            </a:r>
            <a:r>
              <a:rPr b="1" i="1" lang="es" sz="684" u="none" cap="none" strike="noStrike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 Soporte</a:t>
            </a:r>
            <a:endParaRPr b="1" i="1" sz="684" u="none" cap="none" strike="noStrike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2810416" y="1194675"/>
            <a:ext cx="5600100" cy="11169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4725" lIns="44725" spcFirstLastPara="1" rIns="44725" wrap="square" tIns="44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rPr b="0" i="1" lang="es" sz="684" u="none" cap="none" strike="noStrike">
                <a:solidFill>
                  <a:srgbClr val="A64D79"/>
                </a:solidFill>
                <a:latin typeface="Montserrat"/>
                <a:ea typeface="Montserrat"/>
                <a:cs typeface="Montserrat"/>
                <a:sym typeface="Montserrat"/>
              </a:rPr>
              <a:t>Capa de </a:t>
            </a:r>
            <a:r>
              <a:rPr b="1" i="1" lang="es" sz="684" u="none" cap="none" strike="noStrike">
                <a:solidFill>
                  <a:srgbClr val="A64D79"/>
                </a:solidFill>
                <a:latin typeface="Montserrat"/>
                <a:ea typeface="Montserrat"/>
                <a:cs typeface="Montserrat"/>
                <a:sym typeface="Montserrat"/>
              </a:rPr>
              <a:t>Presentación</a:t>
            </a:r>
            <a:endParaRPr b="1" i="1" sz="684" u="none" cap="none" strike="noStrike">
              <a:solidFill>
                <a:srgbClr val="A64D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2810416" y="2527269"/>
            <a:ext cx="5600100" cy="11169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44725" lIns="44725" spcFirstLastPara="1" rIns="44725" wrap="square" tIns="44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rPr b="0" i="1" lang="es" sz="684" u="none" cap="none" strike="noStrike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Capa de </a:t>
            </a:r>
            <a:r>
              <a:rPr b="1" i="1" lang="es" sz="684" u="none" cap="none" strike="noStrike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Dominio/Negocio</a:t>
            </a:r>
            <a:endParaRPr b="1" i="1" sz="684" u="none" cap="none" strike="noStrike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2810416" y="3859863"/>
            <a:ext cx="5600100" cy="111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4725" lIns="44725" spcFirstLastPara="1" rIns="44725" wrap="square" tIns="44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rPr b="0" i="1" lang="es" sz="684" u="none" cap="none" strike="noStrike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Capa de </a:t>
            </a:r>
            <a:r>
              <a:rPr b="1" i="1" lang="es" sz="684" u="none" cap="none" strike="noStrike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Acceso a Datos</a:t>
            </a:r>
            <a:endParaRPr b="1" i="1" sz="684" u="none" cap="none" strike="noStrike">
              <a:solidFill>
                <a:srgbClr val="6AA8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3021517" y="1377873"/>
            <a:ext cx="1661700" cy="813000"/>
          </a:xfrm>
          <a:prstGeom prst="rect">
            <a:avLst/>
          </a:prstGeom>
          <a:noFill/>
          <a:ln cap="flat" cmpd="sng" w="9325">
            <a:solidFill>
              <a:srgbClr val="4C1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4157073" y="2242577"/>
            <a:ext cx="180600" cy="284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AD1DC"/>
          </a:solidFill>
          <a:ln>
            <a:noFill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4530818" y="2574134"/>
            <a:ext cx="1143900" cy="1040400"/>
          </a:xfrm>
          <a:prstGeom prst="rect">
            <a:avLst/>
          </a:prstGeom>
          <a:noFill/>
          <a:ln cap="flat" cmpd="sng" w="93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/>
          <p:nvPr/>
        </p:nvSpPr>
        <p:spPr>
          <a:xfrm rot="5400000">
            <a:off x="2432756" y="1440049"/>
            <a:ext cx="348600" cy="549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AD1DC"/>
          </a:solidFill>
          <a:ln>
            <a:noFill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1"/>
          <p:cNvSpPr/>
          <p:nvPr/>
        </p:nvSpPr>
        <p:spPr>
          <a:xfrm rot="5400000">
            <a:off x="2432756" y="2811244"/>
            <a:ext cx="348600" cy="549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3280372" y="2642971"/>
            <a:ext cx="1143900" cy="928200"/>
          </a:xfrm>
          <a:prstGeom prst="rect">
            <a:avLst/>
          </a:prstGeom>
          <a:noFill/>
          <a:ln cap="flat" cmpd="sng" w="93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/>
          <p:nvPr/>
        </p:nvSpPr>
        <p:spPr>
          <a:xfrm rot="5400000">
            <a:off x="2432756" y="4143838"/>
            <a:ext cx="348600" cy="549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1"/>
          <p:cNvSpPr/>
          <p:nvPr/>
        </p:nvSpPr>
        <p:spPr>
          <a:xfrm rot="10800000">
            <a:off x="5524823" y="3644473"/>
            <a:ext cx="180600" cy="284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1"/>
          <p:cNvSpPr/>
          <p:nvPr/>
        </p:nvSpPr>
        <p:spPr>
          <a:xfrm rot="10800000">
            <a:off x="6923982" y="2311878"/>
            <a:ext cx="180600" cy="284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3870201" y="1410242"/>
            <a:ext cx="754200" cy="430500"/>
          </a:xfrm>
          <a:prstGeom prst="rect">
            <a:avLst/>
          </a:prstGeom>
          <a:noFill/>
          <a:ln cap="flat" cmpd="sng" w="46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36" u="none" cap="none" strike="noStrike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Vista de Perfiles de Usuario</a:t>
            </a:r>
            <a:endParaRPr b="1" i="0" sz="736" u="none" cap="none" strike="noStrike">
              <a:solidFill>
                <a:srgbClr val="741B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5825392" y="2581339"/>
            <a:ext cx="1143900" cy="928200"/>
          </a:xfrm>
          <a:prstGeom prst="rect">
            <a:avLst/>
          </a:prstGeom>
          <a:noFill/>
          <a:ln cap="flat" cmpd="sng" w="93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3334565" y="2687933"/>
            <a:ext cx="1034400" cy="317100"/>
          </a:xfrm>
          <a:prstGeom prst="rect">
            <a:avLst/>
          </a:prstGeom>
          <a:noFill/>
          <a:ln cap="flat" cmpd="sng" w="46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36" u="none" cap="none" strike="noStrike">
                <a:solidFill>
                  <a:srgbClr val="BF9000"/>
                </a:solidFill>
                <a:latin typeface="Raleway"/>
                <a:ea typeface="Raleway"/>
                <a:cs typeface="Raleway"/>
                <a:sym typeface="Raleway"/>
              </a:rPr>
              <a:t>Módulo de Autenticación</a:t>
            </a:r>
            <a:endParaRPr b="1" i="0" sz="736" u="none" cap="none" strike="noStrike">
              <a:solidFill>
                <a:srgbClr val="BF9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3334565" y="3010212"/>
            <a:ext cx="1034400" cy="203700"/>
          </a:xfrm>
          <a:prstGeom prst="rect">
            <a:avLst/>
          </a:prstGeom>
          <a:noFill/>
          <a:ln cap="flat" cmpd="sng" w="46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36" u="none" cap="none" strike="noStrike">
                <a:solidFill>
                  <a:srgbClr val="BF9000"/>
                </a:solidFill>
                <a:latin typeface="Raleway"/>
                <a:ea typeface="Raleway"/>
                <a:cs typeface="Raleway"/>
                <a:sym typeface="Raleway"/>
              </a:rPr>
              <a:t>Control de Roles</a:t>
            </a:r>
            <a:endParaRPr b="1" i="0" sz="736" u="none" cap="none" strike="noStrike">
              <a:solidFill>
                <a:srgbClr val="BF9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4586143" y="3157705"/>
            <a:ext cx="1048800" cy="436500"/>
          </a:xfrm>
          <a:prstGeom prst="rect">
            <a:avLst/>
          </a:prstGeom>
          <a:noFill/>
          <a:ln cap="flat" cmpd="sng" w="46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49" u="none" cap="none" strike="noStrike">
                <a:solidFill>
                  <a:srgbClr val="BF9000"/>
                </a:solidFill>
                <a:latin typeface="Raleway"/>
                <a:ea typeface="Raleway"/>
                <a:cs typeface="Raleway"/>
                <a:sym typeface="Raleway"/>
              </a:rPr>
              <a:t>Módulo de guardado y carga de cotizaciones</a:t>
            </a:r>
            <a:endParaRPr b="1" i="0" sz="749" u="none" cap="none" strike="noStrike">
              <a:solidFill>
                <a:srgbClr val="BF9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4586111" y="2603333"/>
            <a:ext cx="1048800" cy="551700"/>
          </a:xfrm>
          <a:prstGeom prst="rect">
            <a:avLst/>
          </a:prstGeom>
          <a:noFill/>
          <a:ln cap="flat" cmpd="sng" w="46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49" u="none" cap="none" strike="noStrike">
                <a:solidFill>
                  <a:srgbClr val="BF9000"/>
                </a:solidFill>
                <a:latin typeface="Raleway"/>
                <a:ea typeface="Raleway"/>
                <a:cs typeface="Raleway"/>
                <a:sym typeface="Raleway"/>
              </a:rPr>
              <a:t>Módulo de exportación e importación de cotizaciones</a:t>
            </a:r>
            <a:endParaRPr b="1" i="0" sz="749" u="none" cap="none" strike="noStrike">
              <a:solidFill>
                <a:srgbClr val="BF9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7119979" y="2710441"/>
            <a:ext cx="870000" cy="430500"/>
          </a:xfrm>
          <a:prstGeom prst="rect">
            <a:avLst/>
          </a:prstGeom>
          <a:noFill/>
          <a:ln cap="flat" cmpd="sng" w="46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"/>
              <a:buFont typeface="Arial"/>
              <a:buNone/>
            </a:pPr>
            <a:r>
              <a:rPr b="1" i="0" lang="es" sz="736" u="none" cap="none" strike="noStrike">
                <a:solidFill>
                  <a:srgbClr val="BF9000"/>
                </a:solidFill>
                <a:latin typeface="Raleway"/>
                <a:ea typeface="Raleway"/>
                <a:cs typeface="Raleway"/>
                <a:sym typeface="Raleway"/>
              </a:rPr>
              <a:t>Módulo de Gestión de usuarios</a:t>
            </a:r>
            <a:endParaRPr b="1" i="0" sz="736" u="none" cap="none" strike="noStrike">
              <a:solidFill>
                <a:srgbClr val="BF9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3334565" y="3234006"/>
            <a:ext cx="1034400" cy="317100"/>
          </a:xfrm>
          <a:prstGeom prst="rect">
            <a:avLst/>
          </a:prstGeom>
          <a:noFill/>
          <a:ln cap="flat" cmpd="sng" w="46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36" u="none" cap="none" strike="noStrike">
                <a:solidFill>
                  <a:srgbClr val="BF9000"/>
                </a:solidFill>
                <a:latin typeface="Raleway"/>
                <a:ea typeface="Raleway"/>
                <a:cs typeface="Raleway"/>
                <a:sym typeface="Raleway"/>
              </a:rPr>
              <a:t>Módulo de Gestión de Cotizaciones</a:t>
            </a:r>
            <a:endParaRPr b="1" i="0" sz="736" u="none" cap="none" strike="noStrike">
              <a:solidFill>
                <a:srgbClr val="BF9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1154543" y="1972706"/>
            <a:ext cx="870000" cy="450600"/>
          </a:xfrm>
          <a:prstGeom prst="rect">
            <a:avLst/>
          </a:prstGeom>
          <a:noFill/>
          <a:ln cap="flat" cmpd="sng" w="46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80" u="none" cap="none" strike="noStrike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Setup de Entorno Local y Productivo</a:t>
            </a:r>
            <a:endParaRPr b="1" i="0" sz="780" u="none" cap="none" strike="noStrik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1154543" y="2476289"/>
            <a:ext cx="870000" cy="570600"/>
          </a:xfrm>
          <a:prstGeom prst="rect">
            <a:avLst/>
          </a:prstGeom>
          <a:noFill/>
          <a:ln cap="flat" cmpd="sng" w="46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80" u="none" cap="none" strike="noStrike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Configuración del Repositorio GIT</a:t>
            </a:r>
            <a:endParaRPr b="1" i="0" sz="780" u="none" cap="none" strike="noStrik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1154543" y="3099875"/>
            <a:ext cx="870000" cy="570600"/>
          </a:xfrm>
          <a:prstGeom prst="rect">
            <a:avLst/>
          </a:prstGeom>
          <a:noFill/>
          <a:ln cap="flat" cmpd="sng" w="46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80" u="none" cap="none" strike="noStrike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Planificación Inicial del Product Backlog</a:t>
            </a:r>
            <a:endParaRPr b="1" i="0" sz="780" u="none" cap="none" strike="noStrik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1154543" y="3723449"/>
            <a:ext cx="870000" cy="210300"/>
          </a:xfrm>
          <a:prstGeom prst="rect">
            <a:avLst/>
          </a:prstGeom>
          <a:noFill/>
          <a:ln cap="flat" cmpd="sng" w="46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80" u="none" cap="none" strike="noStrike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Entorno Cloud</a:t>
            </a:r>
            <a:endParaRPr b="1" i="0" sz="780" u="none" cap="none" strike="noStrik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1154543" y="3962970"/>
            <a:ext cx="870000" cy="210300"/>
          </a:xfrm>
          <a:prstGeom prst="rect">
            <a:avLst/>
          </a:prstGeom>
          <a:noFill/>
          <a:ln cap="flat" cmpd="sng" w="46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80" u="none" cap="none" strike="noStrike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Manual de Uso</a:t>
            </a:r>
            <a:endParaRPr b="1" i="0" sz="780" u="none" cap="none" strike="noStrik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3082005" y="1410239"/>
            <a:ext cx="754200" cy="430500"/>
          </a:xfrm>
          <a:prstGeom prst="rect">
            <a:avLst/>
          </a:prstGeom>
          <a:noFill/>
          <a:ln cap="flat" cmpd="sng" w="46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36" u="none" cap="none" strike="noStrike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Vista de Gestión de Cotizaciones</a:t>
            </a:r>
            <a:endParaRPr b="1" i="0" sz="736" u="none" cap="none" strike="noStrike">
              <a:solidFill>
                <a:srgbClr val="741B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5202501" y="1560687"/>
            <a:ext cx="986400" cy="430500"/>
          </a:xfrm>
          <a:prstGeom prst="rect">
            <a:avLst/>
          </a:prstGeom>
          <a:noFill/>
          <a:ln cap="flat" cmpd="sng" w="46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36" u="none" cap="none" strike="noStrike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Vista de Formulario de cotización</a:t>
            </a:r>
            <a:endParaRPr b="1" i="0" sz="736" u="none" cap="none" strike="noStrike">
              <a:solidFill>
                <a:srgbClr val="741B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3475132" y="1857289"/>
            <a:ext cx="754200" cy="317100"/>
          </a:xfrm>
          <a:prstGeom prst="rect">
            <a:avLst/>
          </a:prstGeom>
          <a:noFill/>
          <a:ln cap="flat" cmpd="sng" w="46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36" u="none" cap="none" strike="noStrike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Login / Registro</a:t>
            </a:r>
            <a:endParaRPr b="1" i="0" sz="736" u="none" cap="none" strike="noStrike">
              <a:solidFill>
                <a:srgbClr val="741B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8" name="Google Shape;158;p21"/>
          <p:cNvCxnSpPr>
            <a:stCxn id="133" idx="2"/>
            <a:endCxn id="138" idx="0"/>
          </p:cNvCxnSpPr>
          <p:nvPr/>
        </p:nvCxnSpPr>
        <p:spPr>
          <a:xfrm>
            <a:off x="3852367" y="2190873"/>
            <a:ext cx="0" cy="452100"/>
          </a:xfrm>
          <a:prstGeom prst="straightConnector1">
            <a:avLst/>
          </a:prstGeom>
          <a:noFill/>
          <a:ln cap="flat" cmpd="sng" w="13975">
            <a:solidFill>
              <a:srgbClr val="7F6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9" name="Google Shape;159;p21"/>
          <p:cNvSpPr txBox="1"/>
          <p:nvPr/>
        </p:nvSpPr>
        <p:spPr>
          <a:xfrm>
            <a:off x="5884504" y="2613582"/>
            <a:ext cx="1022700" cy="436500"/>
          </a:xfrm>
          <a:prstGeom prst="rect">
            <a:avLst/>
          </a:prstGeom>
          <a:noFill/>
          <a:ln cap="flat" cmpd="sng" w="46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49" u="none" cap="none" strike="noStrike">
                <a:solidFill>
                  <a:srgbClr val="BF9000"/>
                </a:solidFill>
                <a:latin typeface="Raleway"/>
                <a:ea typeface="Raleway"/>
                <a:cs typeface="Raleway"/>
                <a:sym typeface="Raleway"/>
              </a:rPr>
              <a:t>Función de generación de documento .doc</a:t>
            </a:r>
            <a:endParaRPr b="1" i="0" sz="749" u="none" cap="none" strike="noStrike">
              <a:solidFill>
                <a:srgbClr val="BF9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6892716" y="1600353"/>
            <a:ext cx="1324800" cy="203700"/>
          </a:xfrm>
          <a:prstGeom prst="rect">
            <a:avLst/>
          </a:prstGeom>
          <a:noFill/>
          <a:ln cap="flat" cmpd="sng" w="46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36" u="none" cap="none" strike="noStrike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Vista de Administración </a:t>
            </a:r>
            <a:endParaRPr b="1" i="0" sz="736" u="none" cap="none" strike="noStrike">
              <a:solidFill>
                <a:srgbClr val="741B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1154543" y="4202480"/>
            <a:ext cx="870000" cy="210300"/>
          </a:xfrm>
          <a:prstGeom prst="rect">
            <a:avLst/>
          </a:prstGeom>
          <a:noFill/>
          <a:ln cap="flat" cmpd="sng" w="46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80" u="none" cap="none" strike="noStrike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Servicio Cloud</a:t>
            </a:r>
            <a:endParaRPr b="1" i="0" sz="780" u="none" cap="none" strike="noStrik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5884504" y="3062244"/>
            <a:ext cx="1022700" cy="436500"/>
          </a:xfrm>
          <a:prstGeom prst="rect">
            <a:avLst/>
          </a:prstGeom>
          <a:noFill/>
          <a:ln cap="flat" cmpd="sng" w="46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49" u="none" cap="none" strike="noStrike">
                <a:solidFill>
                  <a:srgbClr val="BF9000"/>
                </a:solidFill>
                <a:latin typeface="Raleway"/>
                <a:ea typeface="Raleway"/>
                <a:cs typeface="Raleway"/>
                <a:sym typeface="Raleway"/>
              </a:rPr>
              <a:t>Función de generación de documento .pdf</a:t>
            </a:r>
            <a:endParaRPr b="1" i="0" sz="749" u="none" cap="none" strike="noStrike">
              <a:solidFill>
                <a:srgbClr val="BF9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63" name="Google Shape;163;p21"/>
          <p:cNvCxnSpPr>
            <a:stCxn id="156" idx="3"/>
            <a:endCxn id="143" idx="0"/>
          </p:cNvCxnSpPr>
          <p:nvPr/>
        </p:nvCxnSpPr>
        <p:spPr>
          <a:xfrm>
            <a:off x="6188901" y="1775937"/>
            <a:ext cx="208500" cy="805500"/>
          </a:xfrm>
          <a:prstGeom prst="bentConnector2">
            <a:avLst/>
          </a:prstGeom>
          <a:noFill/>
          <a:ln cap="flat" cmpd="sng" w="13975">
            <a:solidFill>
              <a:srgbClr val="7F6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4" name="Google Shape;164;p21"/>
          <p:cNvCxnSpPr>
            <a:stCxn id="160" idx="2"/>
            <a:endCxn id="148" idx="0"/>
          </p:cNvCxnSpPr>
          <p:nvPr/>
        </p:nvCxnSpPr>
        <p:spPr>
          <a:xfrm>
            <a:off x="7555116" y="1804053"/>
            <a:ext cx="0" cy="906300"/>
          </a:xfrm>
          <a:prstGeom prst="straightConnector1">
            <a:avLst/>
          </a:prstGeom>
          <a:noFill/>
          <a:ln cap="flat" cmpd="sng" w="13975">
            <a:solidFill>
              <a:srgbClr val="7F6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5" name="Google Shape;165;p21"/>
          <p:cNvCxnSpPr>
            <a:stCxn id="156" idx="1"/>
            <a:endCxn id="135" idx="0"/>
          </p:cNvCxnSpPr>
          <p:nvPr/>
        </p:nvCxnSpPr>
        <p:spPr>
          <a:xfrm flipH="1">
            <a:off x="5102901" y="1775937"/>
            <a:ext cx="99600" cy="798300"/>
          </a:xfrm>
          <a:prstGeom prst="bentConnector2">
            <a:avLst/>
          </a:prstGeom>
          <a:noFill/>
          <a:ln cap="flat" cmpd="sng" w="13975">
            <a:solidFill>
              <a:srgbClr val="7F6000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descr="File:Applications-database.svg - Wikimedia Commons" id="166" name="Google Shape;16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7200" y="4325425"/>
            <a:ext cx="549299" cy="5492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7" name="Google Shape;16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4275" y="4180275"/>
            <a:ext cx="413152" cy="4131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8" name="Google Shape;168;p21" title="Render logo - Whit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1775" y="4099726"/>
            <a:ext cx="1856824" cy="7661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Modelo EnR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174" name="Google Shape;17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75" name="Google Shape;175;p22"/>
          <p:cNvSpPr/>
          <p:nvPr/>
        </p:nvSpPr>
        <p:spPr>
          <a:xfrm>
            <a:off x="512050" y="1193800"/>
            <a:ext cx="8289000" cy="3737400"/>
          </a:xfrm>
          <a:prstGeom prst="roundRect">
            <a:avLst>
              <a:gd fmla="val 4795" name="adj"/>
            </a:avLst>
          </a:prstGeom>
          <a:solidFill>
            <a:srgbClr val="EEEEEE">
              <a:alpha val="673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9090" y="1193800"/>
            <a:ext cx="6834135" cy="373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9525" y="632300"/>
            <a:ext cx="964951" cy="9649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82" name="Google Shape;182;p23"/>
          <p:cNvSpPr txBox="1"/>
          <p:nvPr/>
        </p:nvSpPr>
        <p:spPr>
          <a:xfrm>
            <a:off x="1016850" y="2047200"/>
            <a:ext cx="7110300" cy="1049100"/>
          </a:xfrm>
          <a:prstGeom prst="rect">
            <a:avLst/>
          </a:prstGeom>
          <a:noFill/>
          <a:ln>
            <a:noFill/>
          </a:ln>
          <a:effectLst>
            <a:outerShdw blurRad="54867" rotWithShape="0" algn="bl" dir="5400000" dist="18289">
              <a:srgbClr val="000000">
                <a:alpha val="50000"/>
              </a:srgbClr>
            </a:outerShdw>
          </a:effectLst>
        </p:spPr>
        <p:txBody>
          <a:bodyPr anchorCtr="0" anchor="t" bIns="87775" lIns="87775" spcFirstLastPara="1" rIns="87775" wrap="square" tIns="87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5664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DEMOSTRACIÓN</a:t>
            </a:r>
            <a:endParaRPr i="1" sz="5664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