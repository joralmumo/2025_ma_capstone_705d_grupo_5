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ExtraLight"/>
      <p:regular r:id="rId22"/>
      <p:bold r:id="rId23"/>
      <p:italic r:id="rId24"/>
      <p:boldItalic r:id="rId25"/>
    </p:embeddedFont>
    <p:embeddedFont>
      <p:font typeface="Roboto Black"/>
      <p:bold r:id="rId26"/>
      <p:boldItalic r:id="rId27"/>
    </p:embeddedFont>
    <p:embeddedFont>
      <p:font typeface="Raleway"/>
      <p:regular r:id="rId28"/>
      <p:bold r:id="rId29"/>
      <p:italic r:id="rId30"/>
      <p:boldItalic r:id="rId31"/>
    </p:embeddedFont>
    <p:embeddedFont>
      <p:font typeface="Roboto"/>
      <p:regular r:id="rId32"/>
      <p:bold r:id="rId33"/>
      <p:italic r:id="rId34"/>
      <p:boldItalic r:id="rId35"/>
    </p:embeddedFont>
    <p:embeddedFont>
      <p:font typeface="Montserrat"/>
      <p:regular r:id="rId36"/>
      <p:bold r:id="rId37"/>
      <p:italic r:id="rId38"/>
      <p:boldItalic r:id="rId39"/>
    </p:embeddedFont>
    <p:embeddedFont>
      <p:font typeface="Prosto One"/>
      <p:regular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rostoOne-regular.fntdata"/><Relationship Id="rId20" Type="http://schemas.openxmlformats.org/officeDocument/2006/relationships/slide" Target="slides/slide15.xml"/><Relationship Id="rId22" Type="http://schemas.openxmlformats.org/officeDocument/2006/relationships/font" Target="fonts/RobotoExtraLight-regular.fntdata"/><Relationship Id="rId21" Type="http://schemas.openxmlformats.org/officeDocument/2006/relationships/slide" Target="slides/slide16.xml"/><Relationship Id="rId24" Type="http://schemas.openxmlformats.org/officeDocument/2006/relationships/font" Target="fonts/RobotoExtraLight-italic.fntdata"/><Relationship Id="rId23" Type="http://schemas.openxmlformats.org/officeDocument/2006/relationships/font" Target="fonts/RobotoExtra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Black-bold.fntdata"/><Relationship Id="rId25" Type="http://schemas.openxmlformats.org/officeDocument/2006/relationships/font" Target="fonts/RobotoExtraLight-boldItalic.fntdata"/><Relationship Id="rId28" Type="http://schemas.openxmlformats.org/officeDocument/2006/relationships/font" Target="fonts/Raleway-regular.fntdata"/><Relationship Id="rId27" Type="http://schemas.openxmlformats.org/officeDocument/2006/relationships/font" Target="fonts/RobotoBlac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37" Type="http://schemas.openxmlformats.org/officeDocument/2006/relationships/font" Target="fonts/Montserrat-bold.fntdata"/><Relationship Id="rId14" Type="http://schemas.openxmlformats.org/officeDocument/2006/relationships/slide" Target="slides/slide9.xml"/><Relationship Id="rId36" Type="http://schemas.openxmlformats.org/officeDocument/2006/relationships/font" Target="fonts/Montserrat-regular.fntdata"/><Relationship Id="rId17" Type="http://schemas.openxmlformats.org/officeDocument/2006/relationships/slide" Target="slides/slide12.xml"/><Relationship Id="rId39" Type="http://schemas.openxmlformats.org/officeDocument/2006/relationships/font" Target="fonts/Montserrat-bold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b95260bb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b95260bb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b95260b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b95260b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b95260bb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b95260bb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b95260bb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b95260bb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b95260bb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b95260bb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0f1be005c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0f1be005c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b95260bb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b95260bb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0f1be005c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0f1be005c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0f1be005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90f1be005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0f1be005c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0f1be005c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0f1be005c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0f1be005c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0f1be005c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0f1be005c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0f1be005c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90f1be005c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0f1be005c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0f1be005c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b95260bbd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9b95260bbd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2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9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spreadsheets/d/17TCvYnnFjCBURP5I6oL95TmWX9QTsYdK6wjiNuU3CbU/edit?usp=sharing" TargetMode="External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1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hyperlink" Target="http://www.instacotiz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1738D"/>
            </a:gs>
            <a:gs pos="38000">
              <a:srgbClr val="00BA7B"/>
            </a:gs>
            <a:gs pos="100000">
              <a:schemeClr val="lt1"/>
            </a:gs>
          </a:gsLst>
          <a:lin ang="8100019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099400" y="502888"/>
            <a:ext cx="4710600" cy="1092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590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InstaCotiza</a:t>
            </a:r>
            <a:endParaRPr sz="5900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55" name="Google Shape;55;p13" title="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475" y="455088"/>
            <a:ext cx="1188524" cy="11885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6" name="Google Shape;56;p13"/>
          <p:cNvSpPr txBox="1"/>
          <p:nvPr/>
        </p:nvSpPr>
        <p:spPr>
          <a:xfrm>
            <a:off x="4819400" y="1717263"/>
            <a:ext cx="3990600" cy="2678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Miembros:</a:t>
            </a:r>
            <a:endParaRPr i="1" sz="1800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342900" lvl="0" marL="45720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b="1" i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Valentina Jamett</a:t>
            </a:r>
            <a:endParaRPr b="1"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b="1" i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Jorge Muñoz</a:t>
            </a:r>
            <a:endParaRPr b="1"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Profesor: </a:t>
            </a:r>
            <a:endParaRPr i="1" sz="1800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342900" lvl="0" marL="45720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b="1" i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Ricardo Aravena</a:t>
            </a:r>
            <a:endParaRPr b="1"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Cliente (Early adopter):</a:t>
            </a:r>
            <a:endParaRPr i="1" sz="1800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  <a:p>
            <a:pPr indent="-342900" lvl="0" marL="45720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Char char="●"/>
            </a:pPr>
            <a:r>
              <a:rPr b="1" i="1" lang="es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JMP Impermeabilizaciones</a:t>
            </a:r>
            <a:endParaRPr b="1" i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50129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Contexto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63" name="Google Shape;63;p14"/>
          <p:cNvSpPr/>
          <p:nvPr/>
        </p:nvSpPr>
        <p:spPr>
          <a:xfrm>
            <a:off x="512050" y="1303825"/>
            <a:ext cx="3627000" cy="33771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JMP Impermeabilizaciones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empresa del rubro de la construcción y las obras civiles, busca </a:t>
            </a: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mejorar su eficiencia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al momento de cotizar sus trabajos. 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Actualmente sus procesos requieren de</a:t>
            </a: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tareas manuales 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 que involucran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altos tiempos de espera para poder realizar las cotizaciones desde su oficina. 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412675"/>
            <a:ext cx="4042250" cy="181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descr="Finance concept. Man writing and make note about cost (proporcionado por Getty Images)" id="65" name="Google Shape;65;p14"/>
          <p:cNvPicPr preferRelativeResize="0"/>
          <p:nvPr/>
        </p:nvPicPr>
        <p:blipFill rotWithShape="1">
          <a:blip r:embed="rId5">
            <a:alphaModFix/>
          </a:blip>
          <a:srcRect b="0" l="0" r="0" t="27188"/>
          <a:stretch/>
        </p:blipFill>
        <p:spPr>
          <a:xfrm>
            <a:off x="4572000" y="2719200"/>
            <a:ext cx="4042250" cy="196172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Descripción del Proyecto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72" name="Google Shape;72;p15"/>
          <p:cNvSpPr/>
          <p:nvPr/>
        </p:nvSpPr>
        <p:spPr>
          <a:xfrm>
            <a:off x="512050" y="1303825"/>
            <a:ext cx="3627000" cy="33771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Instacotiza es una solución para </a:t>
            </a: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acelerar los procesos de negocio 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 las empresas, entregándoles un centro para crear, generar y gestionar cotizaciones para sus clientes desde cualquier dispositivo.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 un actual foco particular en las obras civiles y con una mirada a expandirse a más rubros en el futuro.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433400" y="935838"/>
            <a:ext cx="4710600" cy="2909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90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COTIZA</a:t>
            </a:r>
            <a:endParaRPr sz="5900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90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CREA</a:t>
            </a:r>
            <a:endParaRPr sz="5900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90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GESTIONA</a:t>
            </a:r>
            <a:endParaRPr sz="5900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572000" y="3745963"/>
            <a:ext cx="3990600" cy="461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fácil y en minutos… o quizá menos.</a:t>
            </a:r>
            <a:endParaRPr i="1" sz="1800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</p:txBody>
      </p:sp>
      <p:pic>
        <p:nvPicPr>
          <p:cNvPr descr="a pixel art drawing of a butterfly with a checkered pattern on the wings . (proporcionado por Tenor)"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8100" y="2055725"/>
            <a:ext cx="669350" cy="6693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Alcances Principales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82" name="Google Shape;82;p16"/>
          <p:cNvSpPr/>
          <p:nvPr/>
        </p:nvSpPr>
        <p:spPr>
          <a:xfrm>
            <a:off x="512050" y="1303825"/>
            <a:ext cx="3627000" cy="33771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Generar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documentos de 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otización con cálculos actualizados al instante.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Exportar e importar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cotizaciones en local.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Guardar y cargar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cotizaciones en la nube.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Gestionar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y llevar seguimiento de las cotizaciones.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336925" y="999775"/>
            <a:ext cx="4522500" cy="2793000"/>
          </a:xfrm>
          <a:prstGeom prst="rect">
            <a:avLst/>
          </a:prstGeom>
          <a:noFill/>
          <a:ln>
            <a:noFill/>
          </a:ln>
          <a:effectLst>
            <a:outerShdw blurRad="54867" rotWithShape="0" algn="bl" dir="5400000" dist="18289">
              <a:srgbClr val="000000">
                <a:alpha val="50000"/>
              </a:srgbClr>
            </a:outerShdw>
          </a:effectLst>
        </p:spPr>
        <p:txBody>
          <a:bodyPr anchorCtr="0" anchor="t" bIns="87775" lIns="87775" spcFirstLastPara="1" rIns="87775" wrap="square" tIns="87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64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COTIZA</a:t>
            </a:r>
            <a:endParaRPr sz="5664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64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CREA</a:t>
            </a:r>
            <a:endParaRPr sz="5664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64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GESTIONA</a:t>
            </a:r>
            <a:endParaRPr sz="5664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432539" y="3723233"/>
            <a:ext cx="4627200" cy="535500"/>
          </a:xfrm>
          <a:prstGeom prst="rect">
            <a:avLst/>
          </a:prstGeom>
          <a:noFill/>
          <a:ln>
            <a:noFill/>
          </a:ln>
          <a:effectLst>
            <a:outerShdw blurRad="66265" rotWithShape="0" algn="bl" dir="5400000" dist="22088">
              <a:srgbClr val="000000">
                <a:alpha val="50000"/>
              </a:srgbClr>
            </a:outerShdw>
          </a:effectLst>
        </p:spPr>
        <p:txBody>
          <a:bodyPr anchorCtr="0" anchor="t" bIns="106000" lIns="106000" spcFirstLastPara="1" rIns="106000" wrap="square" tIns="106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087">
                <a:solidFill>
                  <a:schemeClr val="lt1"/>
                </a:solidFill>
                <a:latin typeface="Roboto ExtraLight"/>
                <a:ea typeface="Roboto ExtraLight"/>
                <a:cs typeface="Roboto ExtraLight"/>
                <a:sym typeface="Roboto ExtraLight"/>
              </a:rPr>
              <a:t>en palabras sencillas.</a:t>
            </a:r>
            <a:endParaRPr i="1" sz="2087">
              <a:solidFill>
                <a:schemeClr val="lt1"/>
              </a:solidFill>
              <a:latin typeface="Roboto ExtraLight"/>
              <a:ea typeface="Roboto ExtraLight"/>
              <a:cs typeface="Roboto ExtraLight"/>
              <a:sym typeface="Roboto ExtraLight"/>
            </a:endParaRPr>
          </a:p>
        </p:txBody>
      </p:sp>
      <p:pic>
        <p:nvPicPr>
          <p:cNvPr descr="a pixel art drawing of a butterfly with a checkered pattern on the wings . (proporcionado por Tenor)"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4761" y="2074928"/>
            <a:ext cx="642613" cy="642613"/>
          </a:xfrm>
          <a:prstGeom prst="rect">
            <a:avLst/>
          </a:prstGeom>
          <a:noFill/>
          <a:ln>
            <a:noFill/>
          </a:ln>
          <a:effectLst>
            <a:outerShdw blurRad="54867" rotWithShape="0" algn="bl" dir="5400000" dist="18289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Requerimientos Principales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2" name="Google Shape;92;p17"/>
          <p:cNvSpPr/>
          <p:nvPr/>
        </p:nvSpPr>
        <p:spPr>
          <a:xfrm>
            <a:off x="512050" y="1303825"/>
            <a:ext cx="3627000" cy="33771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FUNCIONALES</a:t>
            </a:r>
            <a:endParaRPr b="1"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Generación de documentos de </a:t>
            </a: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cotización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Guardado y carga de plantillas de cotización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Importación y exportación de plantillas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Gestión y almacenamiento de plantillas de cotización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Inicio de sesión / Registro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5017000" y="1303825"/>
            <a:ext cx="3627000" cy="33771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FUNCIONALES</a:t>
            </a:r>
            <a:endParaRPr b="1"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Carga de plantillas (&lt;1s)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Carga eficiente entre pages (&lt;2s)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Cifrado de datos sensibles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Diseño Responsivo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i="1" lang="e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Soportar 50 usuarios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Framework de Desarrollo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descr="File:Angular gradient.png - Wikipedia" id="100" name="Google Shape;10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0760" y="1362050"/>
            <a:ext cx="1742462" cy="174246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1" name="Google Shape;10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3700" y="1140350"/>
            <a:ext cx="1898174" cy="189817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2" name="Google Shape;10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0798" y="3038537"/>
            <a:ext cx="1523927" cy="9316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3" name="Google Shape;10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69975" y="2983913"/>
            <a:ext cx="1185550" cy="11855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4" name="Google Shape;104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36874" y="3038525"/>
            <a:ext cx="1446366" cy="9316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5" name="Google Shape;105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97376" y="2888850"/>
            <a:ext cx="1255500" cy="1255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Utilidades de Pruebas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2563" y="1534425"/>
            <a:ext cx="3039725" cy="103269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3" name="Google Shape;11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0575" y="3059900"/>
            <a:ext cx="1171150" cy="1171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4" name="Google Shape;11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0025" y="3101763"/>
            <a:ext cx="3944801" cy="10874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15" name="Google Shape;115;p19"/>
          <p:cNvSpPr txBox="1"/>
          <p:nvPr/>
        </p:nvSpPr>
        <p:spPr>
          <a:xfrm>
            <a:off x="5777175" y="3120925"/>
            <a:ext cx="593400" cy="1049100"/>
          </a:xfrm>
          <a:prstGeom prst="rect">
            <a:avLst/>
          </a:prstGeom>
          <a:noFill/>
          <a:ln>
            <a:noFill/>
          </a:ln>
          <a:effectLst>
            <a:outerShdw blurRad="54867" rotWithShape="0" algn="bl" dir="5400000" dist="18289">
              <a:srgbClr val="000000"/>
            </a:outerShdw>
          </a:effectLst>
        </p:spPr>
        <p:txBody>
          <a:bodyPr anchorCtr="0" anchor="t" bIns="87775" lIns="87775" spcFirstLastPara="1" rIns="87775" wrap="square" tIns="877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64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+</a:t>
            </a:r>
            <a:endParaRPr sz="5664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77175" y="1242213"/>
            <a:ext cx="1347676" cy="1412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/>
          <p:nvPr/>
        </p:nvSpPr>
        <p:spPr>
          <a:xfrm>
            <a:off x="2499700" y="1079275"/>
            <a:ext cx="6398100" cy="2633400"/>
          </a:xfrm>
          <a:prstGeom prst="roundRect">
            <a:avLst>
              <a:gd fmla="val 9078" name="adj"/>
            </a:avLst>
          </a:prstGeom>
          <a:solidFill>
            <a:srgbClr val="B7B7B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4725" lIns="44725" spcFirstLastPara="1" rIns="44725" wrap="square" tIns="4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1" i="1" sz="684" u="none" cap="none" strike="noStrike">
              <a:solidFill>
                <a:srgbClr val="A64D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Arquitectura del sistema en despliegue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4" name="Google Shape;124;p20"/>
          <p:cNvSpPr/>
          <p:nvPr/>
        </p:nvSpPr>
        <p:spPr>
          <a:xfrm rot="-5400000">
            <a:off x="-501062" y="2275475"/>
            <a:ext cx="3782400" cy="1599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4725" lIns="44725" spcFirstLastPara="1" rIns="44725" wrap="square" tIns="44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rPr b="0" i="1" lang="es" sz="684" u="none" cap="none" strike="noStrike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Capa de</a:t>
            </a:r>
            <a:r>
              <a:rPr b="1" i="1" lang="es" sz="684" u="none" cap="none" strike="noStrike">
                <a:solidFill>
                  <a:srgbClr val="3C78D8"/>
                </a:solidFill>
                <a:latin typeface="Montserrat"/>
                <a:ea typeface="Montserrat"/>
                <a:cs typeface="Montserrat"/>
                <a:sym typeface="Montserrat"/>
              </a:rPr>
              <a:t> Soporte</a:t>
            </a:r>
            <a:endParaRPr b="1" i="1" sz="684" u="none" cap="none" strike="noStrike">
              <a:solidFill>
                <a:srgbClr val="3C78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2667416" y="1183925"/>
            <a:ext cx="5600100" cy="11169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4725" lIns="44725" spcFirstLastPara="1" rIns="44725" wrap="square" tIns="44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rPr b="0" i="1" lang="es" sz="684" u="none" cap="none" strike="noStrike">
                <a:solidFill>
                  <a:srgbClr val="A64D79"/>
                </a:solidFill>
                <a:latin typeface="Montserrat"/>
                <a:ea typeface="Montserrat"/>
                <a:cs typeface="Montserrat"/>
                <a:sym typeface="Montserrat"/>
              </a:rPr>
              <a:t>Capa de </a:t>
            </a:r>
            <a:r>
              <a:rPr b="1" i="1" lang="es" sz="684" u="none" cap="none" strike="noStrike">
                <a:solidFill>
                  <a:srgbClr val="A64D79"/>
                </a:solidFill>
                <a:latin typeface="Montserrat"/>
                <a:ea typeface="Montserrat"/>
                <a:cs typeface="Montserrat"/>
                <a:sym typeface="Montserrat"/>
              </a:rPr>
              <a:t>Presentación</a:t>
            </a:r>
            <a:endParaRPr b="1" i="1" sz="684" u="none" cap="none" strike="noStrike">
              <a:solidFill>
                <a:srgbClr val="A64D7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2667416" y="2516519"/>
            <a:ext cx="5600100" cy="1116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44725" lIns="44725" spcFirstLastPara="1" rIns="44725" wrap="square" tIns="44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rPr b="0" i="1" lang="es" sz="684" u="none" cap="none" strike="noStrike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Capa de </a:t>
            </a:r>
            <a:r>
              <a:rPr b="1" i="1" lang="es" sz="684" u="none" cap="none" strike="noStrike">
                <a:solidFill>
                  <a:srgbClr val="F1C232"/>
                </a:solidFill>
                <a:latin typeface="Montserrat"/>
                <a:ea typeface="Montserrat"/>
                <a:cs typeface="Montserrat"/>
                <a:sym typeface="Montserrat"/>
              </a:rPr>
              <a:t>Dominio/Negocio</a:t>
            </a:r>
            <a:endParaRPr b="1" i="1" sz="684" u="none" cap="none" strike="noStrike">
              <a:solidFill>
                <a:srgbClr val="F1C2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2667416" y="3849113"/>
            <a:ext cx="5600100" cy="111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4725" lIns="44725" spcFirstLastPara="1" rIns="44725" wrap="square" tIns="447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rPr b="0" i="1" lang="es" sz="684" u="none" cap="none" strike="noStrike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Capa de </a:t>
            </a:r>
            <a:r>
              <a:rPr b="1" i="1" lang="es" sz="684" u="none" cap="none" strike="noStrike">
                <a:solidFill>
                  <a:srgbClr val="6AA84F"/>
                </a:solidFill>
                <a:latin typeface="Montserrat"/>
                <a:ea typeface="Montserrat"/>
                <a:cs typeface="Montserrat"/>
                <a:sym typeface="Montserrat"/>
              </a:rPr>
              <a:t>Acceso a Datos</a:t>
            </a:r>
            <a:endParaRPr b="1" i="1" sz="684" u="none" cap="none" strike="noStrike">
              <a:solidFill>
                <a:srgbClr val="6AA8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2878517" y="1367123"/>
            <a:ext cx="1661700" cy="813000"/>
          </a:xfrm>
          <a:prstGeom prst="rect">
            <a:avLst/>
          </a:prstGeom>
          <a:noFill/>
          <a:ln cap="flat" cmpd="sng" w="9325">
            <a:solidFill>
              <a:srgbClr val="4C11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4014073" y="2231827"/>
            <a:ext cx="180600" cy="284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AD1DC"/>
          </a:solidFill>
          <a:ln>
            <a:noFill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4387818" y="2563384"/>
            <a:ext cx="1143900" cy="1040400"/>
          </a:xfrm>
          <a:prstGeom prst="rect">
            <a:avLst/>
          </a:prstGeom>
          <a:noFill/>
          <a:ln cap="flat" cmpd="sng" w="93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0"/>
          <p:cNvSpPr/>
          <p:nvPr/>
        </p:nvSpPr>
        <p:spPr>
          <a:xfrm rot="5400000">
            <a:off x="2289756" y="1429299"/>
            <a:ext cx="348600" cy="549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AD1DC"/>
          </a:solidFill>
          <a:ln>
            <a:noFill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0"/>
          <p:cNvSpPr/>
          <p:nvPr/>
        </p:nvSpPr>
        <p:spPr>
          <a:xfrm rot="5400000">
            <a:off x="2289756" y="2800494"/>
            <a:ext cx="348600" cy="549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3137372" y="2632221"/>
            <a:ext cx="1143900" cy="928200"/>
          </a:xfrm>
          <a:prstGeom prst="rect">
            <a:avLst/>
          </a:prstGeom>
          <a:noFill/>
          <a:ln cap="flat" cmpd="sng" w="93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/>
          <p:nvPr/>
        </p:nvSpPr>
        <p:spPr>
          <a:xfrm rot="5400000">
            <a:off x="2289756" y="4133088"/>
            <a:ext cx="348600" cy="549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0"/>
          <p:cNvSpPr/>
          <p:nvPr/>
        </p:nvSpPr>
        <p:spPr>
          <a:xfrm rot="10800000">
            <a:off x="5381823" y="3633723"/>
            <a:ext cx="180600" cy="284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9EAD3"/>
          </a:solidFill>
          <a:ln>
            <a:noFill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0"/>
          <p:cNvSpPr/>
          <p:nvPr/>
        </p:nvSpPr>
        <p:spPr>
          <a:xfrm rot="10800000">
            <a:off x="6780982" y="2301128"/>
            <a:ext cx="180600" cy="284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3727201" y="1399492"/>
            <a:ext cx="754200" cy="430500"/>
          </a:xfrm>
          <a:prstGeom prst="rect">
            <a:avLst/>
          </a:prstGeom>
          <a:noFill/>
          <a:ln cap="flat" cmpd="sng" w="46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Vista de Perfiles de Usuario</a:t>
            </a:r>
            <a:endParaRPr b="1" i="0" sz="736" u="none" cap="none" strike="noStrike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5682392" y="2570589"/>
            <a:ext cx="1143900" cy="928200"/>
          </a:xfrm>
          <a:prstGeom prst="rect">
            <a:avLst/>
          </a:prstGeom>
          <a:noFill/>
          <a:ln cap="flat" cmpd="sng" w="9325">
            <a:solidFill>
              <a:srgbClr val="7F6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4725" lIns="44725" spcFirstLastPara="1" rIns="44725" wrap="square" tIns="44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5"/>
              <a:buFont typeface="Arial"/>
              <a:buNone/>
            </a:pPr>
            <a:r>
              <a:t/>
            </a:r>
            <a:endParaRPr b="0" i="0" sz="6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3191565" y="2677183"/>
            <a:ext cx="1034400" cy="3171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Módulo de Autenticación</a:t>
            </a:r>
            <a:endParaRPr b="1" i="0" sz="736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3191565" y="2999462"/>
            <a:ext cx="1034400" cy="2037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Control de Roles</a:t>
            </a:r>
            <a:endParaRPr b="1" i="0" sz="736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4443143" y="3146955"/>
            <a:ext cx="1048800" cy="4365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49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Módulo de guardado y carga de cotizaciones</a:t>
            </a:r>
            <a:endParaRPr b="1" i="0" sz="749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4443111" y="2592583"/>
            <a:ext cx="1048800" cy="5517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49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Módulo de exportación e importación de cotizaciones</a:t>
            </a:r>
            <a:endParaRPr b="1" i="0" sz="749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6976979" y="2699691"/>
            <a:ext cx="870000" cy="4305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"/>
              <a:buFont typeface="Arial"/>
              <a:buNone/>
            </a:pPr>
            <a:r>
              <a:rPr b="1" i="0" lang="es" sz="736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Módulo de Gestión de usuarios</a:t>
            </a:r>
            <a:endParaRPr b="1" i="0" sz="736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3191565" y="3223256"/>
            <a:ext cx="1034400" cy="3171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Módulo de Gestión de Cotizaciones</a:t>
            </a:r>
            <a:endParaRPr b="1" i="0" sz="736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" name="Google Shape;145;p20"/>
          <p:cNvSpPr txBox="1"/>
          <p:nvPr/>
        </p:nvSpPr>
        <p:spPr>
          <a:xfrm>
            <a:off x="1011543" y="1961956"/>
            <a:ext cx="870000" cy="450600"/>
          </a:xfrm>
          <a:prstGeom prst="rect">
            <a:avLst/>
          </a:prstGeom>
          <a:noFill/>
          <a:ln cap="flat" cmpd="sng" w="46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80" u="none" cap="none" strike="noStrike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Setup de Entorno Local y Productivo</a:t>
            </a:r>
            <a:endParaRPr b="1" i="0" sz="780" u="none" cap="none" strike="noStrik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1011543" y="2465539"/>
            <a:ext cx="870000" cy="570600"/>
          </a:xfrm>
          <a:prstGeom prst="rect">
            <a:avLst/>
          </a:prstGeom>
          <a:noFill/>
          <a:ln cap="flat" cmpd="sng" w="46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80" u="none" cap="none" strike="noStrike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Configuración del Repositorio GIT</a:t>
            </a:r>
            <a:endParaRPr b="1" i="0" sz="780" u="none" cap="none" strike="noStrik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1011543" y="3089125"/>
            <a:ext cx="870000" cy="570600"/>
          </a:xfrm>
          <a:prstGeom prst="rect">
            <a:avLst/>
          </a:prstGeom>
          <a:noFill/>
          <a:ln cap="flat" cmpd="sng" w="46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80" u="none" cap="none" strike="noStrike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Planificación Inicial del Product Backlog</a:t>
            </a:r>
            <a:endParaRPr b="1" i="0" sz="780" u="none" cap="none" strike="noStrik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1011543" y="3712699"/>
            <a:ext cx="870000" cy="210300"/>
          </a:xfrm>
          <a:prstGeom prst="rect">
            <a:avLst/>
          </a:prstGeom>
          <a:noFill/>
          <a:ln cap="flat" cmpd="sng" w="46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80" u="none" cap="none" strike="noStrike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Entorno Cloud</a:t>
            </a:r>
            <a:endParaRPr b="1" i="0" sz="780" u="none" cap="none" strike="noStrik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1011543" y="3952220"/>
            <a:ext cx="870000" cy="210300"/>
          </a:xfrm>
          <a:prstGeom prst="rect">
            <a:avLst/>
          </a:prstGeom>
          <a:noFill/>
          <a:ln cap="flat" cmpd="sng" w="46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80" u="none" cap="none" strike="noStrike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Manual de Uso</a:t>
            </a:r>
            <a:endParaRPr b="1" i="0" sz="780" u="none" cap="none" strike="noStrik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2939005" y="1399489"/>
            <a:ext cx="754200" cy="430500"/>
          </a:xfrm>
          <a:prstGeom prst="rect">
            <a:avLst/>
          </a:prstGeom>
          <a:noFill/>
          <a:ln cap="flat" cmpd="sng" w="46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Vista de Gestión de Cotizaciones</a:t>
            </a:r>
            <a:endParaRPr b="1" i="0" sz="736" u="none" cap="none" strike="noStrike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5059501" y="1549937"/>
            <a:ext cx="986400" cy="430500"/>
          </a:xfrm>
          <a:prstGeom prst="rect">
            <a:avLst/>
          </a:prstGeom>
          <a:noFill/>
          <a:ln cap="flat" cmpd="sng" w="46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Vista de Formulario de cotización</a:t>
            </a:r>
            <a:endParaRPr b="1" i="0" sz="736" u="none" cap="none" strike="noStrike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3332132" y="1846539"/>
            <a:ext cx="754200" cy="317100"/>
          </a:xfrm>
          <a:prstGeom prst="rect">
            <a:avLst/>
          </a:prstGeom>
          <a:noFill/>
          <a:ln cap="flat" cmpd="sng" w="46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Login / Registro</a:t>
            </a:r>
            <a:endParaRPr b="1" i="0" sz="736" u="none" cap="none" strike="noStrike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3" name="Google Shape;153;p20"/>
          <p:cNvCxnSpPr>
            <a:stCxn id="128" idx="2"/>
            <a:endCxn id="133" idx="0"/>
          </p:cNvCxnSpPr>
          <p:nvPr/>
        </p:nvCxnSpPr>
        <p:spPr>
          <a:xfrm>
            <a:off x="3709367" y="2180123"/>
            <a:ext cx="0" cy="452100"/>
          </a:xfrm>
          <a:prstGeom prst="straightConnector1">
            <a:avLst/>
          </a:prstGeom>
          <a:noFill/>
          <a:ln cap="flat" cmpd="sng" w="13975">
            <a:solidFill>
              <a:srgbClr val="7F6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4" name="Google Shape;154;p20"/>
          <p:cNvSpPr txBox="1"/>
          <p:nvPr/>
        </p:nvSpPr>
        <p:spPr>
          <a:xfrm>
            <a:off x="5741504" y="2602832"/>
            <a:ext cx="1022700" cy="4365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49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Función de generación de documento .doc</a:t>
            </a:r>
            <a:endParaRPr b="1" i="0" sz="749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6749716" y="1589603"/>
            <a:ext cx="1324800" cy="203700"/>
          </a:xfrm>
          <a:prstGeom prst="rect">
            <a:avLst/>
          </a:prstGeom>
          <a:noFill/>
          <a:ln cap="flat" cmpd="sng" w="465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36" u="none" cap="none" strike="noStrike">
                <a:solidFill>
                  <a:srgbClr val="741B47"/>
                </a:solidFill>
                <a:latin typeface="Montserrat"/>
                <a:ea typeface="Montserrat"/>
                <a:cs typeface="Montserrat"/>
                <a:sym typeface="Montserrat"/>
              </a:rPr>
              <a:t>Vista de Administración </a:t>
            </a:r>
            <a:endParaRPr b="1" i="0" sz="736" u="none" cap="none" strike="noStrike">
              <a:solidFill>
                <a:srgbClr val="741B4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1011543" y="4191730"/>
            <a:ext cx="870000" cy="210300"/>
          </a:xfrm>
          <a:prstGeom prst="rect">
            <a:avLst/>
          </a:prstGeom>
          <a:noFill/>
          <a:ln cap="flat" cmpd="sng" w="465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80" u="none" cap="none" strike="noStrike">
                <a:solidFill>
                  <a:srgbClr val="1155CC"/>
                </a:solidFill>
                <a:latin typeface="Montserrat"/>
                <a:ea typeface="Montserrat"/>
                <a:cs typeface="Montserrat"/>
                <a:sym typeface="Montserrat"/>
              </a:rPr>
              <a:t>Servicio Cloud</a:t>
            </a:r>
            <a:endParaRPr b="1" i="0" sz="780" u="none" cap="none" strike="noStrike">
              <a:solidFill>
                <a:srgbClr val="1155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0"/>
          <p:cNvSpPr txBox="1"/>
          <p:nvPr/>
        </p:nvSpPr>
        <p:spPr>
          <a:xfrm>
            <a:off x="5741504" y="3051494"/>
            <a:ext cx="1022700" cy="436500"/>
          </a:xfrm>
          <a:prstGeom prst="rect">
            <a:avLst/>
          </a:prstGeom>
          <a:noFill/>
          <a:ln cap="flat" cmpd="sng" w="46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4725" lIns="44725" spcFirstLastPara="1" rIns="44725" wrap="square" tIns="447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</a:pPr>
            <a:r>
              <a:rPr b="1" i="0" lang="es" sz="749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Función de generación de documento .pdf</a:t>
            </a:r>
            <a:endParaRPr b="1" i="0" sz="749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58" name="Google Shape;158;p20"/>
          <p:cNvCxnSpPr>
            <a:stCxn id="151" idx="3"/>
            <a:endCxn id="138" idx="0"/>
          </p:cNvCxnSpPr>
          <p:nvPr/>
        </p:nvCxnSpPr>
        <p:spPr>
          <a:xfrm>
            <a:off x="6045901" y="1765187"/>
            <a:ext cx="208500" cy="805500"/>
          </a:xfrm>
          <a:prstGeom prst="bentConnector2">
            <a:avLst/>
          </a:prstGeom>
          <a:noFill/>
          <a:ln cap="flat" cmpd="sng" w="13975">
            <a:solidFill>
              <a:srgbClr val="7F6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9" name="Google Shape;159;p20"/>
          <p:cNvCxnSpPr>
            <a:stCxn id="155" idx="2"/>
            <a:endCxn id="143" idx="0"/>
          </p:cNvCxnSpPr>
          <p:nvPr/>
        </p:nvCxnSpPr>
        <p:spPr>
          <a:xfrm>
            <a:off x="7412116" y="1793303"/>
            <a:ext cx="0" cy="906300"/>
          </a:xfrm>
          <a:prstGeom prst="straightConnector1">
            <a:avLst/>
          </a:prstGeom>
          <a:noFill/>
          <a:ln cap="flat" cmpd="sng" w="13975">
            <a:solidFill>
              <a:srgbClr val="7F6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0" name="Google Shape;160;p20"/>
          <p:cNvCxnSpPr>
            <a:stCxn id="151" idx="1"/>
            <a:endCxn id="130" idx="0"/>
          </p:cNvCxnSpPr>
          <p:nvPr/>
        </p:nvCxnSpPr>
        <p:spPr>
          <a:xfrm flipH="1">
            <a:off x="4959901" y="1765187"/>
            <a:ext cx="99600" cy="798300"/>
          </a:xfrm>
          <a:prstGeom prst="bentConnector2">
            <a:avLst/>
          </a:prstGeom>
          <a:noFill/>
          <a:ln cap="flat" cmpd="sng" w="13975">
            <a:solidFill>
              <a:srgbClr val="7F6000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descr="File:Applications-database.svg - Wikimedia Commons" id="161" name="Google Shape;16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4200" y="4314675"/>
            <a:ext cx="549299" cy="54929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2" name="Google Shape;16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1275" y="4169525"/>
            <a:ext cx="413152" cy="41315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3" name="Google Shape;163;p20" title="Render logo - Whit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8775" y="4088976"/>
            <a:ext cx="1856824" cy="7661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64" name="Google Shape;16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7671200" y="2199608"/>
            <a:ext cx="1804129" cy="41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4762525" y="1231000"/>
            <a:ext cx="4221300" cy="3604800"/>
          </a:xfrm>
          <a:prstGeom prst="roundRect">
            <a:avLst>
              <a:gd fmla="val 5074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454150" y="1231000"/>
            <a:ext cx="4221300" cy="3604800"/>
          </a:xfrm>
          <a:prstGeom prst="roundRect">
            <a:avLst>
              <a:gd fmla="val 5074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">
            <a:hlinkClick r:id="rId3"/>
          </p:cNvPr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Pruebas de software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172" name="Google Shape;17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73" name="Google Shape;173;p21"/>
          <p:cNvSpPr/>
          <p:nvPr/>
        </p:nvSpPr>
        <p:spPr>
          <a:xfrm>
            <a:off x="529425" y="1346650"/>
            <a:ext cx="1459200" cy="5871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ESTADOS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529425" y="2016525"/>
            <a:ext cx="2012100" cy="774900"/>
          </a:xfrm>
          <a:prstGeom prst="roundRect">
            <a:avLst>
              <a:gd fmla="val 16667" name="adj"/>
            </a:avLst>
          </a:prstGeom>
          <a:solidFill>
            <a:srgbClr val="C8EAB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34F5C"/>
                </a:solidFill>
              </a:rPr>
              <a:t>EXITOSO</a:t>
            </a:r>
            <a:endParaRPr b="1" sz="1600">
              <a:solidFill>
                <a:srgbClr val="134F5C"/>
              </a:solidFill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2602925" y="2016525"/>
            <a:ext cx="2012100" cy="774900"/>
          </a:xfrm>
          <a:prstGeom prst="roundRect">
            <a:avLst>
              <a:gd fmla="val 16667" name="adj"/>
            </a:avLst>
          </a:prstGeom>
          <a:solidFill>
            <a:srgbClr val="FFE9A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783F04"/>
                </a:solidFill>
              </a:rPr>
              <a:t>FALLOS MENORES</a:t>
            </a:r>
            <a:endParaRPr b="1" sz="1600">
              <a:solidFill>
                <a:srgbClr val="783F04"/>
              </a:solidFill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2602925" y="2917025"/>
            <a:ext cx="2012100" cy="774900"/>
          </a:xfrm>
          <a:prstGeom prst="roundRect">
            <a:avLst>
              <a:gd fmla="val 16667" name="adj"/>
            </a:avLst>
          </a:prstGeom>
          <a:solidFill>
            <a:srgbClr val="F1C1C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990000"/>
                </a:solidFill>
              </a:rPr>
              <a:t>FALLIDO</a:t>
            </a:r>
            <a:endParaRPr b="1" sz="1600">
              <a:solidFill>
                <a:srgbClr val="990000"/>
              </a:solidFill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529425" y="2917025"/>
            <a:ext cx="2012100" cy="774900"/>
          </a:xfrm>
          <a:prstGeom prst="roundRect">
            <a:avLst>
              <a:gd fmla="val 16667" name="adj"/>
            </a:avLst>
          </a:prstGeom>
          <a:solidFill>
            <a:srgbClr val="E5C3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7F3DAA"/>
                </a:solidFill>
              </a:rPr>
              <a:t>POSPUESTO</a:t>
            </a:r>
            <a:endParaRPr b="1" sz="1600">
              <a:solidFill>
                <a:srgbClr val="7F3DAA"/>
              </a:solidFill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1558750" y="3817525"/>
            <a:ext cx="2012100" cy="774900"/>
          </a:xfrm>
          <a:prstGeom prst="roundRect">
            <a:avLst>
              <a:gd fmla="val 16667" name="adj"/>
            </a:avLst>
          </a:prstGeom>
          <a:solidFill>
            <a:srgbClr val="ADCAF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C4587"/>
                </a:solidFill>
              </a:rPr>
              <a:t>NO PROBADO</a:t>
            </a:r>
            <a:endParaRPr b="1" sz="1600">
              <a:solidFill>
                <a:srgbClr val="1C4587"/>
              </a:solidFill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4870125" y="1303825"/>
            <a:ext cx="1459200" cy="5871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TIPOS</a:t>
            </a:r>
            <a:endParaRPr i="1"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4843225" y="2016525"/>
            <a:ext cx="2012100" cy="774900"/>
          </a:xfrm>
          <a:prstGeom prst="roundRect">
            <a:avLst>
              <a:gd fmla="val 16667" name="adj"/>
            </a:avLst>
          </a:prstGeom>
          <a:solidFill>
            <a:srgbClr val="E5C3F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7F3DAA"/>
                </a:solidFill>
              </a:rPr>
              <a:t>UI/UX</a:t>
            </a:r>
            <a:endParaRPr b="1" sz="1600">
              <a:solidFill>
                <a:srgbClr val="7F3DAA"/>
              </a:solidFill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6896450" y="2016525"/>
            <a:ext cx="2012100" cy="774900"/>
          </a:xfrm>
          <a:prstGeom prst="roundRect">
            <a:avLst>
              <a:gd fmla="val 16667" name="adj"/>
            </a:avLst>
          </a:prstGeom>
          <a:solidFill>
            <a:srgbClr val="C8EAB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34F5C"/>
                </a:solidFill>
              </a:rPr>
              <a:t>FUNCIONALIDAD</a:t>
            </a:r>
            <a:endParaRPr b="1" sz="1600">
              <a:solidFill>
                <a:srgbClr val="134F5C"/>
              </a:solidFill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6896450" y="2917025"/>
            <a:ext cx="2012100" cy="774900"/>
          </a:xfrm>
          <a:prstGeom prst="roundRect">
            <a:avLst>
              <a:gd fmla="val 16667" name="adj"/>
            </a:avLst>
          </a:prstGeom>
          <a:solidFill>
            <a:srgbClr val="FFE9A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783F04"/>
                </a:solidFill>
              </a:rPr>
              <a:t>RENDIMIENTO</a:t>
            </a:r>
            <a:endParaRPr b="1" sz="1600">
              <a:solidFill>
                <a:srgbClr val="783F04"/>
              </a:solidFill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4843225" y="2917025"/>
            <a:ext cx="2012100" cy="774900"/>
          </a:xfrm>
          <a:prstGeom prst="roundRect">
            <a:avLst>
              <a:gd fmla="val 16667" name="adj"/>
            </a:avLst>
          </a:prstGeom>
          <a:solidFill>
            <a:srgbClr val="ADCAF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C4587"/>
                </a:solidFill>
              </a:rPr>
              <a:t>SEGURIDAD</a:t>
            </a:r>
            <a:endParaRPr b="1" sz="1600">
              <a:solidFill>
                <a:srgbClr val="1C4587"/>
              </a:solidFill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4843225" y="3817525"/>
            <a:ext cx="2012100" cy="774900"/>
          </a:xfrm>
          <a:prstGeom prst="roundRect">
            <a:avLst>
              <a:gd fmla="val 16667" name="adj"/>
            </a:avLst>
          </a:prstGeom>
          <a:solidFill>
            <a:srgbClr val="F8CB9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783F04"/>
                </a:solidFill>
              </a:rPr>
              <a:t>MANEJO DE ERRORES</a:t>
            </a:r>
            <a:endParaRPr b="1" sz="1600">
              <a:solidFill>
                <a:srgbClr val="783F04"/>
              </a:solidFill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6896450" y="3817525"/>
            <a:ext cx="2012100" cy="774900"/>
          </a:xfrm>
          <a:prstGeom prst="roundRect">
            <a:avLst>
              <a:gd fmla="val 16667" name="adj"/>
            </a:avLst>
          </a:prstGeom>
          <a:solidFill>
            <a:srgbClr val="B5D3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34F5C"/>
                </a:solidFill>
              </a:rPr>
              <a:t>DESPLIEGUE</a:t>
            </a:r>
            <a:endParaRPr b="1" sz="1600">
              <a:solidFill>
                <a:srgbClr val="134F5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/>
          <p:nvPr/>
        </p:nvSpPr>
        <p:spPr>
          <a:xfrm>
            <a:off x="3838775" y="499675"/>
            <a:ext cx="1920300" cy="413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Resultados</a:t>
            </a:r>
            <a:endParaRPr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Pruebas de software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93" name="Google Shape;193;p22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750" y="1119900"/>
            <a:ext cx="6208500" cy="3838800"/>
          </a:xfrm>
          <a:prstGeom prst="roundRect">
            <a:avLst>
              <a:gd fmla="val 8581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/>
          <p:nvPr/>
        </p:nvSpPr>
        <p:spPr>
          <a:xfrm>
            <a:off x="3838775" y="499675"/>
            <a:ext cx="1920300" cy="413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Resultados</a:t>
            </a:r>
            <a:endParaRPr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Pruebas de software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200" name="Google Shape;20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01" name="Google Shape;201;p23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750" y="1141400"/>
            <a:ext cx="6208500" cy="3838800"/>
          </a:xfrm>
          <a:prstGeom prst="roundRect">
            <a:avLst>
              <a:gd fmla="val 11436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/>
          <p:nvPr/>
        </p:nvSpPr>
        <p:spPr>
          <a:xfrm>
            <a:off x="3838775" y="499675"/>
            <a:ext cx="1920300" cy="413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Resultados</a:t>
            </a:r>
            <a:endParaRPr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Pruebas de software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208" name="Google Shape;20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09" name="Google Shape;209;p24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7100" y="1152200"/>
            <a:ext cx="6265200" cy="3873900"/>
          </a:xfrm>
          <a:prstGeom prst="roundRect">
            <a:avLst>
              <a:gd fmla="val 7886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"/>
          <p:cNvSpPr/>
          <p:nvPr/>
        </p:nvSpPr>
        <p:spPr>
          <a:xfrm>
            <a:off x="3838775" y="499675"/>
            <a:ext cx="1920300" cy="413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Resultados</a:t>
            </a:r>
            <a:endParaRPr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sp>
        <p:nvSpPr>
          <p:cNvPr id="215" name="Google Shape;215;p25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Pruebas de software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216" name="Google Shape;2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17" name="Google Shape;217;p25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0500" y="1141425"/>
            <a:ext cx="6208500" cy="3838800"/>
          </a:xfrm>
          <a:prstGeom prst="roundRect">
            <a:avLst>
              <a:gd fmla="val 8419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Pruebas de software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223" name="Google Shape;22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4" name="Google Shape;224;p26"/>
          <p:cNvSpPr txBox="1"/>
          <p:nvPr/>
        </p:nvSpPr>
        <p:spPr>
          <a:xfrm>
            <a:off x="512050" y="1194100"/>
            <a:ext cx="4708800" cy="2077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Umbral mínimo de éxito para release final:</a:t>
            </a:r>
            <a:endParaRPr sz="4100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2261525" y="2517000"/>
            <a:ext cx="2572200" cy="166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600">
                <a:solidFill>
                  <a:srgbClr val="CC0000"/>
                </a:solidFill>
                <a:latin typeface="Roboto Black"/>
                <a:ea typeface="Roboto Black"/>
                <a:cs typeface="Roboto Black"/>
                <a:sym typeface="Roboto Black"/>
              </a:rPr>
              <a:t>95%</a:t>
            </a:r>
            <a:endParaRPr sz="9600">
              <a:solidFill>
                <a:srgbClr val="CC000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5096000" y="1194100"/>
            <a:ext cx="3627000" cy="3377100"/>
          </a:xfrm>
          <a:prstGeom prst="foldedCorner">
            <a:avLst>
              <a:gd fmla="val 1320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umbral mínimo de éxito, delimita que para la aprobación del sitio como un </a:t>
            </a: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RELEASE FINAL </a:t>
            </a:r>
            <a:r>
              <a:rPr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deben conseguir como mínimo un </a:t>
            </a:r>
            <a:r>
              <a:rPr b="1"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95% de casos exitosos </a:t>
            </a:r>
            <a:r>
              <a:rPr i="1"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del total de casos de prueba*.</a:t>
            </a:r>
            <a:endParaRPr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* depende de la criticidad para el proyecto de dicho caso.</a:t>
            </a:r>
            <a:endParaRPr i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/>
          <p:nvPr/>
        </p:nvSpPr>
        <p:spPr>
          <a:xfrm>
            <a:off x="626250" y="1263275"/>
            <a:ext cx="3512700" cy="26901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7"/>
          <p:cNvSpPr/>
          <p:nvPr/>
        </p:nvSpPr>
        <p:spPr>
          <a:xfrm>
            <a:off x="512050" y="412675"/>
            <a:ext cx="3627000" cy="587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800">
                <a:solidFill>
                  <a:schemeClr val="dk1"/>
                </a:solidFill>
                <a:latin typeface="Prosto One"/>
                <a:ea typeface="Prosto One"/>
                <a:cs typeface="Prosto One"/>
                <a:sym typeface="Prosto One"/>
              </a:rPr>
              <a:t>Estado del Proyecto</a:t>
            </a:r>
            <a:endParaRPr b="1" i="1" sz="1800">
              <a:solidFill>
                <a:schemeClr val="dk1"/>
              </a:solidFill>
              <a:latin typeface="Prosto One"/>
              <a:ea typeface="Prosto One"/>
              <a:cs typeface="Prosto One"/>
              <a:sym typeface="Prosto One"/>
            </a:endParaRPr>
          </a:p>
        </p:txBody>
      </p:sp>
      <p:pic>
        <p:nvPicPr>
          <p:cNvPr id="233" name="Google Shape;23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10300"/>
            <a:ext cx="413149" cy="4131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34" name="Google Shape;234;p27"/>
          <p:cNvSpPr txBox="1"/>
          <p:nvPr/>
        </p:nvSpPr>
        <p:spPr>
          <a:xfrm>
            <a:off x="669250" y="1194100"/>
            <a:ext cx="3469800" cy="81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Estado actual</a:t>
            </a:r>
            <a:endParaRPr sz="4100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669250" y="2151150"/>
            <a:ext cx="3469800" cy="2179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600">
                <a:solidFill>
                  <a:srgbClr val="47D780"/>
                </a:solidFill>
                <a:latin typeface="Roboto Black"/>
                <a:ea typeface="Roboto Black"/>
                <a:cs typeface="Roboto Black"/>
                <a:sym typeface="Roboto Black"/>
              </a:rPr>
              <a:t>BETA Final</a:t>
            </a:r>
            <a:endParaRPr sz="9600">
              <a:solidFill>
                <a:srgbClr val="47D780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7D780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47D780"/>
                </a:solidFill>
                <a:latin typeface="Roboto Black"/>
                <a:ea typeface="Roboto Black"/>
                <a:cs typeface="Roboto Black"/>
                <a:sym typeface="Roboto Black"/>
              </a:rPr>
              <a:t>* pública</a:t>
            </a:r>
            <a:endParaRPr sz="1200">
              <a:solidFill>
                <a:srgbClr val="47D780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36" name="Google Shape;236;p27"/>
          <p:cNvSpPr txBox="1"/>
          <p:nvPr/>
        </p:nvSpPr>
        <p:spPr>
          <a:xfrm>
            <a:off x="4462913" y="412675"/>
            <a:ext cx="4681200" cy="221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100">
                <a:solidFill>
                  <a:schemeClr val="lt2"/>
                </a:solidFill>
                <a:highlight>
                  <a:srgbClr val="D198CE"/>
                </a:highlight>
                <a:latin typeface="Roboto Black"/>
                <a:ea typeface="Roboto Black"/>
                <a:cs typeface="Roboto Black"/>
                <a:sym typeface="Roboto Black"/>
              </a:rPr>
              <a:t>Fecha de lanzamiento</a:t>
            </a:r>
            <a:r>
              <a:rPr lang="es" sz="4100">
                <a:solidFill>
                  <a:schemeClr val="lt2"/>
                </a:solidFill>
                <a:highlight>
                  <a:srgbClr val="D198CE"/>
                </a:highlight>
                <a:latin typeface="Roboto Black"/>
                <a:ea typeface="Roboto Black"/>
                <a:cs typeface="Roboto Black"/>
                <a:sym typeface="Roboto Black"/>
              </a:rPr>
              <a:t>:</a:t>
            </a:r>
            <a:endParaRPr sz="4100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02 / dic / 2025</a:t>
            </a:r>
            <a:endParaRPr sz="5000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descr="a drawing of a bird reading a calendar with the number 1 on it (proporcionado por Tenor)" id="237" name="Google Shape;23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5625" y="2748225"/>
            <a:ext cx="2015776" cy="201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BA7B"/>
            </a:gs>
            <a:gs pos="100000">
              <a:srgbClr val="61738D"/>
            </a:gs>
          </a:gsLst>
          <a:lin ang="8100019" scaled="0"/>
        </a:gra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9525" y="632300"/>
            <a:ext cx="964951" cy="9649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43" name="Google Shape;243;p28"/>
          <p:cNvSpPr txBox="1"/>
          <p:nvPr/>
        </p:nvSpPr>
        <p:spPr>
          <a:xfrm>
            <a:off x="1016850" y="2047200"/>
            <a:ext cx="7110300" cy="2793000"/>
          </a:xfrm>
          <a:prstGeom prst="rect">
            <a:avLst/>
          </a:prstGeom>
          <a:noFill/>
          <a:ln>
            <a:noFill/>
          </a:ln>
          <a:effectLst>
            <a:outerShdw blurRad="54867" rotWithShape="0" algn="bl" dir="5400000" dist="18289">
              <a:srgbClr val="000000">
                <a:alpha val="50000"/>
              </a:srgbClr>
            </a:outerShdw>
          </a:effectLst>
        </p:spPr>
        <p:txBody>
          <a:bodyPr anchorCtr="0" anchor="t" bIns="87775" lIns="87775" spcFirstLastPara="1" rIns="87775" wrap="square" tIns="877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5664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Visita</a:t>
            </a:r>
            <a:endParaRPr i="1" sz="5664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5664" u="sng">
                <a:solidFill>
                  <a:srgbClr val="47D780"/>
                </a:solidFill>
                <a:latin typeface="Roboto Black"/>
                <a:ea typeface="Roboto Black"/>
                <a:cs typeface="Roboto Black"/>
                <a:sym typeface="Roboto Blac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www.instacotiza.com</a:t>
            </a:r>
            <a:endParaRPr i="1" sz="5664">
              <a:solidFill>
                <a:srgbClr val="47D780"/>
              </a:solidFill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5664">
                <a:solidFill>
                  <a:schemeClr val="lt2"/>
                </a:solidFill>
                <a:latin typeface="Roboto Black"/>
                <a:ea typeface="Roboto Black"/>
                <a:cs typeface="Roboto Black"/>
                <a:sym typeface="Roboto Black"/>
              </a:rPr>
              <a:t>¡ahora!</a:t>
            </a:r>
            <a:endParaRPr i="1" sz="5664">
              <a:solidFill>
                <a:schemeClr val="lt2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