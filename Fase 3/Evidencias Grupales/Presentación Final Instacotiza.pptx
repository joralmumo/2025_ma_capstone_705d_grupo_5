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ileron Bold" panose="020B0604020202020204" charset="0"/>
      <p:regular r:id="rId14"/>
    </p:embeddedFont>
    <p:embeddedFont>
      <p:font typeface="TT Hoves" panose="020B0604020202020204" charset="0"/>
      <p:regular r:id="rId15"/>
    </p:embeddedFont>
    <p:embeddedFont>
      <p:font typeface="TT Hove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04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://instacotiza.co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30761" y="-280806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9" y="0"/>
                </a:lnTo>
                <a:lnTo>
                  <a:pt x="11221859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06262" y="4584700"/>
            <a:ext cx="8701313" cy="1117600"/>
          </a:xfrm>
          <a:custGeom>
            <a:avLst/>
            <a:gdLst/>
            <a:ahLst/>
            <a:cxnLst/>
            <a:rect l="l" t="t" r="r" b="b"/>
            <a:pathLst>
              <a:path w="8701313" h="1117600">
                <a:moveTo>
                  <a:pt x="0" y="0"/>
                </a:moveTo>
                <a:lnTo>
                  <a:pt x="8701314" y="0"/>
                </a:lnTo>
                <a:lnTo>
                  <a:pt x="8701314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8073580" y="285546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414197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Capstone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4590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0761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3798" y="-4131629"/>
            <a:ext cx="7991003" cy="7991003"/>
          </a:xfrm>
          <a:custGeom>
            <a:avLst/>
            <a:gdLst/>
            <a:ahLst/>
            <a:cxnLst/>
            <a:rect l="l" t="t" r="r" b="b"/>
            <a:pathLst>
              <a:path w="7991003" h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0738348" y="6568898"/>
            <a:ext cx="6716819" cy="3022569"/>
          </a:xfrm>
          <a:custGeom>
            <a:avLst/>
            <a:gdLst/>
            <a:ahLst/>
            <a:cxnLst/>
            <a:rect l="l" t="t" r="r" b="b"/>
            <a:pathLst>
              <a:path w="6716819" h="3022569">
                <a:moveTo>
                  <a:pt x="0" y="0"/>
                </a:moveTo>
                <a:lnTo>
                  <a:pt x="6716819" y="0"/>
                </a:lnTo>
                <a:lnTo>
                  <a:pt x="6716819" y="3022569"/>
                </a:lnTo>
                <a:lnTo>
                  <a:pt x="0" y="3022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182084" y="501047"/>
            <a:ext cx="12303221" cy="606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69"/>
              </a:lnSpc>
              <a:spcBef>
                <a:spcPct val="0"/>
              </a:spcBef>
            </a:pPr>
            <a:r>
              <a:rPr lang="en-US" sz="3977" b="1" spc="23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JMP I</a:t>
            </a:r>
            <a:r>
              <a:rPr lang="en-US" sz="3977" b="1" u="none" spc="23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mpermeabilizaciones</a:t>
            </a:r>
            <a:r>
              <a:rPr lang="en-US" sz="3977" u="none" spc="23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empresa del rubro de la construcción y las obras civiles, busca </a:t>
            </a:r>
            <a:r>
              <a:rPr lang="en-US" sz="3977" b="1" u="none" spc="23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mejorar su eficiencia</a:t>
            </a:r>
            <a:r>
              <a:rPr lang="en-US" sz="3977" u="none" spc="23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al momento de cotizar sus trabajos.</a:t>
            </a:r>
          </a:p>
          <a:p>
            <a:pPr marL="0" lvl="0" indent="0" algn="l">
              <a:lnSpc>
                <a:spcPts val="5369"/>
              </a:lnSpc>
              <a:spcBef>
                <a:spcPct val="0"/>
              </a:spcBef>
            </a:pPr>
            <a:r>
              <a:rPr lang="en-US" sz="3977" u="none" spc="23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marL="0" lvl="0" indent="0" algn="l">
              <a:lnSpc>
                <a:spcPts val="5369"/>
              </a:lnSpc>
              <a:spcBef>
                <a:spcPct val="0"/>
              </a:spcBef>
            </a:pPr>
            <a:r>
              <a:rPr lang="en-US" sz="3977" u="none" spc="23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Actualmente sus procesos requieren de </a:t>
            </a:r>
            <a:r>
              <a:rPr lang="en-US" sz="3977" b="1" u="none" spc="23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tareas manuales</a:t>
            </a:r>
            <a:r>
              <a:rPr lang="en-US" sz="3977" u="none" spc="23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y que involucran altos tiempos de espera para poder realizar las cotizaciones desde su oficina. </a:t>
            </a:r>
          </a:p>
        </p:txBody>
      </p:sp>
      <p:grpSp>
        <p:nvGrpSpPr>
          <p:cNvPr id="5" name="Group 5"/>
          <p:cNvGrpSpPr/>
          <p:nvPr/>
        </p:nvGrpSpPr>
        <p:grpSpPr>
          <a:xfrm rot="-5428128">
            <a:off x="-5540972" y="4629150"/>
            <a:ext cx="12572236" cy="1954841"/>
            <a:chOff x="0" y="0"/>
            <a:chExt cx="4648716" cy="7228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48716" cy="722823"/>
            </a:xfrm>
            <a:custGeom>
              <a:avLst/>
              <a:gdLst/>
              <a:ahLst/>
              <a:cxnLst/>
              <a:rect l="l" t="t" r="r" b="b"/>
              <a:pathLst>
                <a:path w="4648716" h="722823">
                  <a:moveTo>
                    <a:pt x="0" y="0"/>
                  </a:moveTo>
                  <a:lnTo>
                    <a:pt x="4648716" y="0"/>
                  </a:lnTo>
                  <a:lnTo>
                    <a:pt x="4648716" y="722823"/>
                  </a:lnTo>
                  <a:lnTo>
                    <a:pt x="0" y="72282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48716" cy="760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5401628">
            <a:off x="-1711970" y="1980623"/>
            <a:ext cx="5142832" cy="118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3"/>
              </a:lnSpc>
            </a:pPr>
            <a:r>
              <a:rPr lang="en-US" sz="9270" b="1" spc="-45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Contexto</a:t>
            </a:r>
          </a:p>
        </p:txBody>
      </p:sp>
      <p:sp>
        <p:nvSpPr>
          <p:cNvPr id="9" name="Freeform 9"/>
          <p:cNvSpPr/>
          <p:nvPr/>
        </p:nvSpPr>
        <p:spPr>
          <a:xfrm>
            <a:off x="178701" y="9771555"/>
            <a:ext cx="1383425" cy="340452"/>
          </a:xfrm>
          <a:custGeom>
            <a:avLst/>
            <a:gdLst/>
            <a:ahLst/>
            <a:cxnLst/>
            <a:rect l="l" t="t" r="r" b="b"/>
            <a:pathLst>
              <a:path w="1383425" h="340452">
                <a:moveTo>
                  <a:pt x="0" y="0"/>
                </a:moveTo>
                <a:lnTo>
                  <a:pt x="1383425" y="0"/>
                </a:lnTo>
                <a:lnTo>
                  <a:pt x="1383425" y="340452"/>
                </a:lnTo>
                <a:lnTo>
                  <a:pt x="0" y="34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471992" y="0"/>
            <a:ext cx="1877338" cy="1056003"/>
          </a:xfrm>
          <a:custGeom>
            <a:avLst/>
            <a:gdLst/>
            <a:ahLst/>
            <a:cxnLst/>
            <a:rect l="l" t="t" r="r" b="b"/>
            <a:pathLst>
              <a:path w="1877338" h="1056003">
                <a:moveTo>
                  <a:pt x="0" y="0"/>
                </a:moveTo>
                <a:lnTo>
                  <a:pt x="1877339" y="0"/>
                </a:lnTo>
                <a:lnTo>
                  <a:pt x="1877339" y="1056003"/>
                </a:lnTo>
                <a:lnTo>
                  <a:pt x="0" y="10560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3798" y="-4131629"/>
            <a:ext cx="7991003" cy="7991003"/>
          </a:xfrm>
          <a:custGeom>
            <a:avLst/>
            <a:gdLst/>
            <a:ahLst/>
            <a:cxnLst/>
            <a:rect l="l" t="t" r="r" b="b"/>
            <a:pathLst>
              <a:path w="7991003" h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482418" y="646980"/>
            <a:ext cx="7660957" cy="730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90"/>
              </a:lnSpc>
              <a:spcBef>
                <a:spcPct val="0"/>
              </a:spcBef>
            </a:pPr>
            <a:r>
              <a:rPr lang="en-US" sz="4289" spc="25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Instacotiza, una herramienta diseñada para </a:t>
            </a:r>
            <a:r>
              <a:rPr lang="en-US" sz="4289" b="1" spc="2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agilizar</a:t>
            </a:r>
            <a:r>
              <a:rPr lang="en-US" sz="4289" spc="25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los procesos empresariales, ofreciendo un centro donde las empresas pueden </a:t>
            </a:r>
            <a:r>
              <a:rPr lang="en-US" sz="4289" b="1" spc="2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crear, generar y gestionar</a:t>
            </a:r>
            <a:r>
              <a:rPr lang="en-US" sz="4289" spc="25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cotizaciones para sus clientes desde cualquier dispositivo.</a:t>
            </a:r>
          </a:p>
        </p:txBody>
      </p:sp>
      <p:grpSp>
        <p:nvGrpSpPr>
          <p:cNvPr id="4" name="Group 4"/>
          <p:cNvGrpSpPr/>
          <p:nvPr/>
        </p:nvGrpSpPr>
        <p:grpSpPr>
          <a:xfrm rot="-5428128">
            <a:off x="-5540972" y="4629150"/>
            <a:ext cx="12572236" cy="1954841"/>
            <a:chOff x="0" y="0"/>
            <a:chExt cx="4648716" cy="7228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48716" cy="722823"/>
            </a:xfrm>
            <a:custGeom>
              <a:avLst/>
              <a:gdLst/>
              <a:ahLst/>
              <a:cxnLst/>
              <a:rect l="l" t="t" r="r" b="b"/>
              <a:pathLst>
                <a:path w="4648716" h="722823">
                  <a:moveTo>
                    <a:pt x="0" y="0"/>
                  </a:moveTo>
                  <a:lnTo>
                    <a:pt x="4648716" y="0"/>
                  </a:lnTo>
                  <a:lnTo>
                    <a:pt x="4648716" y="722823"/>
                  </a:lnTo>
                  <a:lnTo>
                    <a:pt x="0" y="72282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48716" cy="760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037815" y="1028700"/>
            <a:ext cx="2745694" cy="4114800"/>
          </a:xfrm>
          <a:custGeom>
            <a:avLst/>
            <a:gdLst/>
            <a:ahLst/>
            <a:cxnLst/>
            <a:rect l="l" t="t" r="r" b="b"/>
            <a:pathLst>
              <a:path w="2745694" h="4114800">
                <a:moveTo>
                  <a:pt x="0" y="0"/>
                </a:moveTo>
                <a:lnTo>
                  <a:pt x="2745693" y="0"/>
                </a:lnTo>
                <a:lnTo>
                  <a:pt x="2745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 rot="-5401628">
            <a:off x="-1711970" y="1980623"/>
            <a:ext cx="5142832" cy="118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3"/>
              </a:lnSpc>
            </a:pPr>
            <a:r>
              <a:rPr lang="en-US" sz="9270" b="1" spc="-45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48225" y="6187596"/>
            <a:ext cx="6935284" cy="367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41"/>
              </a:lnSpc>
            </a:pPr>
            <a:r>
              <a:rPr lang="en-US" sz="12696" b="1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Crea</a:t>
            </a:r>
          </a:p>
          <a:p>
            <a:pPr algn="r">
              <a:lnSpc>
                <a:spcPts val="9141"/>
              </a:lnSpc>
            </a:pPr>
            <a:r>
              <a:rPr lang="en-US" sz="12696" b="1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Cotiza</a:t>
            </a:r>
          </a:p>
          <a:p>
            <a:pPr algn="r">
              <a:lnSpc>
                <a:spcPts val="9141"/>
              </a:lnSpc>
            </a:pPr>
            <a:r>
              <a:rPr lang="en-US" sz="12696" b="1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Gestiona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8701" y="9771555"/>
            <a:ext cx="1383425" cy="340452"/>
          </a:xfrm>
          <a:custGeom>
            <a:avLst/>
            <a:gdLst/>
            <a:ahLst/>
            <a:cxnLst/>
            <a:rect l="l" t="t" r="r" b="b"/>
            <a:pathLst>
              <a:path w="1383425" h="340452">
                <a:moveTo>
                  <a:pt x="0" y="0"/>
                </a:moveTo>
                <a:lnTo>
                  <a:pt x="1383425" y="0"/>
                </a:lnTo>
                <a:lnTo>
                  <a:pt x="1383425" y="340452"/>
                </a:lnTo>
                <a:lnTo>
                  <a:pt x="0" y="34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5471992" y="0"/>
            <a:ext cx="1877338" cy="1056003"/>
          </a:xfrm>
          <a:custGeom>
            <a:avLst/>
            <a:gdLst/>
            <a:ahLst/>
            <a:cxnLst/>
            <a:rect l="l" t="t" r="r" b="b"/>
            <a:pathLst>
              <a:path w="1877338" h="1056003">
                <a:moveTo>
                  <a:pt x="0" y="0"/>
                </a:moveTo>
                <a:lnTo>
                  <a:pt x="1877339" y="0"/>
                </a:lnTo>
                <a:lnTo>
                  <a:pt x="1877339" y="1056003"/>
                </a:lnTo>
                <a:lnTo>
                  <a:pt x="0" y="1056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3803" y="7439026"/>
            <a:ext cx="9598990" cy="9598990"/>
          </a:xfrm>
          <a:custGeom>
            <a:avLst/>
            <a:gdLst/>
            <a:ahLst/>
            <a:cxnLst/>
            <a:rect l="l" t="t" r="r" b="b"/>
            <a:pathLst>
              <a:path w="9598990" h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525522" y="2745410"/>
            <a:ext cx="7417775" cy="1246423"/>
            <a:chOff x="0" y="0"/>
            <a:chExt cx="2483161" cy="417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3161" cy="417250"/>
            </a:xfrm>
            <a:custGeom>
              <a:avLst/>
              <a:gdLst/>
              <a:ahLst/>
              <a:cxnLst/>
              <a:rect l="l" t="t" r="r" b="b"/>
              <a:pathLst>
                <a:path w="2483161" h="417250">
                  <a:moveTo>
                    <a:pt x="0" y="0"/>
                  </a:moveTo>
                  <a:lnTo>
                    <a:pt x="2483161" y="0"/>
                  </a:lnTo>
                  <a:lnTo>
                    <a:pt x="2483161" y="417250"/>
                  </a:lnTo>
                  <a:lnTo>
                    <a:pt x="0" y="41725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9075"/>
              <a:ext cx="2483161" cy="19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5600" b="1" spc="-45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Valentina JAMETT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252896" y="564748"/>
            <a:ext cx="9782208" cy="127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5"/>
              </a:lnSpc>
            </a:pPr>
            <a:r>
              <a:rPr lang="en-US" sz="9290" b="1" spc="-4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Integrantes y roles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44702" y="2745410"/>
            <a:ext cx="7417775" cy="1246423"/>
            <a:chOff x="0" y="0"/>
            <a:chExt cx="2483161" cy="417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83161" cy="417250"/>
            </a:xfrm>
            <a:custGeom>
              <a:avLst/>
              <a:gdLst/>
              <a:ahLst/>
              <a:cxnLst/>
              <a:rect l="l" t="t" r="r" b="b"/>
              <a:pathLst>
                <a:path w="2483161" h="417250">
                  <a:moveTo>
                    <a:pt x="0" y="0"/>
                  </a:moveTo>
                  <a:lnTo>
                    <a:pt x="2483161" y="0"/>
                  </a:lnTo>
                  <a:lnTo>
                    <a:pt x="2483161" y="417250"/>
                  </a:lnTo>
                  <a:lnTo>
                    <a:pt x="0" y="41725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19075"/>
              <a:ext cx="2483161" cy="19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12"/>
                </a:lnSpc>
              </a:pPr>
              <a:r>
                <a:rPr lang="en-US" sz="5600" b="1" spc="-45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Jorge MUÑOZ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40940" y="5613400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Líder Ágil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25522" y="5670001"/>
            <a:ext cx="470154" cy="245024"/>
            <a:chOff x="0" y="0"/>
            <a:chExt cx="157388" cy="820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0940" y="4462891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Dev. Frontend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25522" y="4519493"/>
            <a:ext cx="470154" cy="245024"/>
            <a:chOff x="0" y="0"/>
            <a:chExt cx="157388" cy="820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240940" y="6759575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Q.A.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25522" y="6816177"/>
            <a:ext cx="470154" cy="245024"/>
            <a:chOff x="0" y="0"/>
            <a:chExt cx="157388" cy="820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060120" y="5613400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Líder Técnico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344702" y="5670001"/>
            <a:ext cx="470154" cy="245024"/>
            <a:chOff x="0" y="0"/>
            <a:chExt cx="157388" cy="820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60120" y="4462891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Dev. Backend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344702" y="4519493"/>
            <a:ext cx="470154" cy="245024"/>
            <a:chOff x="0" y="0"/>
            <a:chExt cx="157388" cy="820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060120" y="6759575"/>
            <a:ext cx="670235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D.B.A.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344702" y="6816177"/>
            <a:ext cx="470154" cy="245024"/>
            <a:chOff x="0" y="0"/>
            <a:chExt cx="157388" cy="820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7388" cy="82024"/>
            </a:xfrm>
            <a:custGeom>
              <a:avLst/>
              <a:gdLst/>
              <a:ahLst/>
              <a:cxnLst/>
              <a:rect l="l" t="t" r="r" b="b"/>
              <a:pathLst>
                <a:path w="157388" h="82024">
                  <a:moveTo>
                    <a:pt x="0" y="0"/>
                  </a:moveTo>
                  <a:lnTo>
                    <a:pt x="157388" y="0"/>
                  </a:lnTo>
                  <a:lnTo>
                    <a:pt x="15738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85725"/>
              <a:ext cx="15738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7877198" y="9353551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4" y="0"/>
                </a:lnTo>
                <a:lnTo>
                  <a:pt x="2533604" y="623504"/>
                </a:lnTo>
                <a:lnTo>
                  <a:pt x="0" y="623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47377" y="7100136"/>
            <a:ext cx="9867757" cy="9867757"/>
          </a:xfrm>
          <a:custGeom>
            <a:avLst/>
            <a:gdLst/>
            <a:ahLst/>
            <a:cxnLst/>
            <a:rect l="l" t="t" r="r" b="b"/>
            <a:pathLst>
              <a:path w="9867757" h="9867757">
                <a:moveTo>
                  <a:pt x="0" y="0"/>
                </a:moveTo>
                <a:lnTo>
                  <a:pt x="9867757" y="0"/>
                </a:lnTo>
                <a:lnTo>
                  <a:pt x="9867757" y="9867757"/>
                </a:lnTo>
                <a:lnTo>
                  <a:pt x="0" y="986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542117" y="-10976181"/>
            <a:ext cx="2365665" cy="23211180"/>
            <a:chOff x="0" y="0"/>
            <a:chExt cx="623056" cy="6113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3056" cy="6113233"/>
            </a:xfrm>
            <a:custGeom>
              <a:avLst/>
              <a:gdLst/>
              <a:ahLst/>
              <a:cxnLst/>
              <a:rect l="l" t="t" r="r" b="b"/>
              <a:pathLst>
                <a:path w="623056" h="6113233">
                  <a:moveTo>
                    <a:pt x="0" y="0"/>
                  </a:moveTo>
                  <a:lnTo>
                    <a:pt x="623056" y="0"/>
                  </a:lnTo>
                  <a:lnTo>
                    <a:pt x="623056" y="6113233"/>
                  </a:lnTo>
                  <a:lnTo>
                    <a:pt x="0" y="6113233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23056" cy="6170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892899" y="8758787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574811" y="629409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5066237" y="0"/>
            <a:ext cx="3221763" cy="1812242"/>
          </a:xfrm>
          <a:custGeom>
            <a:avLst/>
            <a:gdLst/>
            <a:ahLst/>
            <a:cxnLst/>
            <a:rect l="l" t="t" r="r" b="b"/>
            <a:pathLst>
              <a:path w="3221763" h="1812242">
                <a:moveTo>
                  <a:pt x="0" y="0"/>
                </a:moveTo>
                <a:lnTo>
                  <a:pt x="3221763" y="0"/>
                </a:lnTo>
                <a:lnTo>
                  <a:pt x="3221763" y="1812242"/>
                </a:lnTo>
                <a:lnTo>
                  <a:pt x="0" y="1812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1028700" y="3062183"/>
            <a:ext cx="221475" cy="210948"/>
            <a:chOff x="0" y="0"/>
            <a:chExt cx="74141" cy="706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141" cy="70617"/>
            </a:xfrm>
            <a:custGeom>
              <a:avLst/>
              <a:gdLst/>
              <a:ahLst/>
              <a:cxnLst/>
              <a:rect l="l" t="t" r="r" b="b"/>
              <a:pathLst>
                <a:path w="74141" h="70617">
                  <a:moveTo>
                    <a:pt x="0" y="0"/>
                  </a:moveTo>
                  <a:lnTo>
                    <a:pt x="74141" y="0"/>
                  </a:lnTo>
                  <a:lnTo>
                    <a:pt x="74141" y="70617"/>
                  </a:lnTo>
                  <a:lnTo>
                    <a:pt x="0" y="70617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74141" cy="70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867218" y="5609585"/>
            <a:ext cx="5809901" cy="4873054"/>
          </a:xfrm>
          <a:custGeom>
            <a:avLst/>
            <a:gdLst/>
            <a:ahLst/>
            <a:cxnLst/>
            <a:rect l="l" t="t" r="r" b="b"/>
            <a:pathLst>
              <a:path w="5809901" h="4873054">
                <a:moveTo>
                  <a:pt x="0" y="0"/>
                </a:moveTo>
                <a:lnTo>
                  <a:pt x="5809900" y="0"/>
                </a:lnTo>
                <a:lnTo>
                  <a:pt x="5809900" y="4873054"/>
                </a:lnTo>
                <a:lnTo>
                  <a:pt x="0" y="48730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3656136" y="255282"/>
            <a:ext cx="11299436" cy="142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0"/>
              </a:lnSpc>
            </a:pPr>
            <a:r>
              <a:rPr lang="en-US" sz="10650" b="1" spc="-5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Objetivo Principal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109" y="2927566"/>
            <a:ext cx="15615257" cy="311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Desarrollar un sistema enfocado en la creación, emisión y gestión de cotizaciones para aquellos que no poseen buen manejo de herramientas de ofimática móvil. Pensada para uso multiplataforma y con un diseño amigable para principiantes, Instacotiza tiene como finalidad digitalizar estos documentos de manera rápida, precisa y sencilla; sin importar dónde te encuentres.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57976" y="9069035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542117" y="-10976181"/>
            <a:ext cx="2365665" cy="23211180"/>
            <a:chOff x="0" y="0"/>
            <a:chExt cx="623056" cy="6113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3056" cy="6113233"/>
            </a:xfrm>
            <a:custGeom>
              <a:avLst/>
              <a:gdLst/>
              <a:ahLst/>
              <a:cxnLst/>
              <a:rect l="l" t="t" r="r" b="b"/>
              <a:pathLst>
                <a:path w="623056" h="6113233">
                  <a:moveTo>
                    <a:pt x="0" y="0"/>
                  </a:moveTo>
                  <a:lnTo>
                    <a:pt x="623056" y="0"/>
                  </a:lnTo>
                  <a:lnTo>
                    <a:pt x="623056" y="6113233"/>
                  </a:lnTo>
                  <a:lnTo>
                    <a:pt x="0" y="6113233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23056" cy="6170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892899" y="8758787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574811" y="629409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5066237" y="0"/>
            <a:ext cx="3221763" cy="1812242"/>
          </a:xfrm>
          <a:custGeom>
            <a:avLst/>
            <a:gdLst/>
            <a:ahLst/>
            <a:cxnLst/>
            <a:rect l="l" t="t" r="r" b="b"/>
            <a:pathLst>
              <a:path w="3221763" h="1812242">
                <a:moveTo>
                  <a:pt x="0" y="0"/>
                </a:moveTo>
                <a:lnTo>
                  <a:pt x="3221763" y="0"/>
                </a:lnTo>
                <a:lnTo>
                  <a:pt x="3221763" y="1812242"/>
                </a:lnTo>
                <a:lnTo>
                  <a:pt x="0" y="1812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3493746" y="415366"/>
            <a:ext cx="11572491" cy="122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1"/>
              </a:lnSpc>
            </a:pPr>
            <a:r>
              <a:rPr lang="en-US" sz="9151" b="1" spc="-43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Objetivos Específicos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44695" y="2355537"/>
            <a:ext cx="6613355" cy="1959750"/>
            <a:chOff x="0" y="0"/>
            <a:chExt cx="1741789" cy="5161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1789" cy="516148"/>
            </a:xfrm>
            <a:custGeom>
              <a:avLst/>
              <a:gdLst/>
              <a:ahLst/>
              <a:cxnLst/>
              <a:rect l="l" t="t" r="r" b="b"/>
              <a:pathLst>
                <a:path w="1741789" h="516148">
                  <a:moveTo>
                    <a:pt x="19901" y="0"/>
                  </a:moveTo>
                  <a:lnTo>
                    <a:pt x="1721888" y="0"/>
                  </a:lnTo>
                  <a:cubicBezTo>
                    <a:pt x="1727166" y="0"/>
                    <a:pt x="1732228" y="2097"/>
                    <a:pt x="1735960" y="5829"/>
                  </a:cubicBezTo>
                  <a:cubicBezTo>
                    <a:pt x="1739692" y="9561"/>
                    <a:pt x="1741789" y="14623"/>
                    <a:pt x="1741789" y="19901"/>
                  </a:cubicBezTo>
                  <a:lnTo>
                    <a:pt x="1741789" y="496247"/>
                  </a:lnTo>
                  <a:cubicBezTo>
                    <a:pt x="1741789" y="501525"/>
                    <a:pt x="1739692" y="506587"/>
                    <a:pt x="1735960" y="510319"/>
                  </a:cubicBezTo>
                  <a:cubicBezTo>
                    <a:pt x="1732228" y="514051"/>
                    <a:pt x="1727166" y="516148"/>
                    <a:pt x="1721888" y="516148"/>
                  </a:cubicBezTo>
                  <a:lnTo>
                    <a:pt x="19901" y="516148"/>
                  </a:lnTo>
                  <a:cubicBezTo>
                    <a:pt x="14623" y="516148"/>
                    <a:pt x="9561" y="514051"/>
                    <a:pt x="5829" y="510319"/>
                  </a:cubicBezTo>
                  <a:cubicBezTo>
                    <a:pt x="2097" y="506587"/>
                    <a:pt x="0" y="501525"/>
                    <a:pt x="0" y="496247"/>
                  </a:cubicBezTo>
                  <a:lnTo>
                    <a:pt x="0" y="19901"/>
                  </a:lnTo>
                  <a:cubicBezTo>
                    <a:pt x="0" y="14623"/>
                    <a:pt x="2097" y="9561"/>
                    <a:pt x="5829" y="5829"/>
                  </a:cubicBezTo>
                  <a:cubicBezTo>
                    <a:pt x="9561" y="2097"/>
                    <a:pt x="14623" y="0"/>
                    <a:pt x="19901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741789" cy="45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Rapidez y eficiencia:</a:t>
              </a:r>
            </a:p>
            <a:p>
              <a:pPr algn="ctr">
                <a:lnSpc>
                  <a:spcPts val="3295"/>
                </a:lnSpc>
              </a:pP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Generar cotizaciones de manera rápida con una experiencia altamente responsiva y simple.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4695" y="4597417"/>
            <a:ext cx="6613355" cy="2306548"/>
            <a:chOff x="0" y="0"/>
            <a:chExt cx="1741789" cy="6074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1789" cy="607486"/>
            </a:xfrm>
            <a:custGeom>
              <a:avLst/>
              <a:gdLst/>
              <a:ahLst/>
              <a:cxnLst/>
              <a:rect l="l" t="t" r="r" b="b"/>
              <a:pathLst>
                <a:path w="1741789" h="607486">
                  <a:moveTo>
                    <a:pt x="19901" y="0"/>
                  </a:moveTo>
                  <a:lnTo>
                    <a:pt x="1721888" y="0"/>
                  </a:lnTo>
                  <a:cubicBezTo>
                    <a:pt x="1727166" y="0"/>
                    <a:pt x="1732228" y="2097"/>
                    <a:pt x="1735960" y="5829"/>
                  </a:cubicBezTo>
                  <a:cubicBezTo>
                    <a:pt x="1739692" y="9561"/>
                    <a:pt x="1741789" y="14623"/>
                    <a:pt x="1741789" y="19901"/>
                  </a:cubicBezTo>
                  <a:lnTo>
                    <a:pt x="1741789" y="587585"/>
                  </a:lnTo>
                  <a:cubicBezTo>
                    <a:pt x="1741789" y="592863"/>
                    <a:pt x="1739692" y="597925"/>
                    <a:pt x="1735960" y="601657"/>
                  </a:cubicBezTo>
                  <a:cubicBezTo>
                    <a:pt x="1732228" y="605389"/>
                    <a:pt x="1727166" y="607486"/>
                    <a:pt x="1721888" y="607486"/>
                  </a:cubicBezTo>
                  <a:lnTo>
                    <a:pt x="19901" y="607486"/>
                  </a:lnTo>
                  <a:cubicBezTo>
                    <a:pt x="14623" y="607486"/>
                    <a:pt x="9561" y="605389"/>
                    <a:pt x="5829" y="601657"/>
                  </a:cubicBezTo>
                  <a:cubicBezTo>
                    <a:pt x="2097" y="597925"/>
                    <a:pt x="0" y="592863"/>
                    <a:pt x="0" y="587585"/>
                  </a:cubicBezTo>
                  <a:lnTo>
                    <a:pt x="0" y="19901"/>
                  </a:lnTo>
                  <a:cubicBezTo>
                    <a:pt x="0" y="14623"/>
                    <a:pt x="2097" y="9561"/>
                    <a:pt x="5829" y="5829"/>
                  </a:cubicBezTo>
                  <a:cubicBezTo>
                    <a:pt x="9561" y="2097"/>
                    <a:pt x="14623" y="0"/>
                    <a:pt x="19901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1741789" cy="550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Accesibilidad multiplataforma: </a:t>
              </a: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Conseguir un funcionamiento completamente adaptable como webapp a cualquier entorno, sea móvil, tablet o de escritorio.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4695" y="7189715"/>
            <a:ext cx="6613355" cy="1959750"/>
            <a:chOff x="0" y="0"/>
            <a:chExt cx="1741789" cy="5161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41789" cy="516148"/>
            </a:xfrm>
            <a:custGeom>
              <a:avLst/>
              <a:gdLst/>
              <a:ahLst/>
              <a:cxnLst/>
              <a:rect l="l" t="t" r="r" b="b"/>
              <a:pathLst>
                <a:path w="1741789" h="516148">
                  <a:moveTo>
                    <a:pt x="19901" y="0"/>
                  </a:moveTo>
                  <a:lnTo>
                    <a:pt x="1721888" y="0"/>
                  </a:lnTo>
                  <a:cubicBezTo>
                    <a:pt x="1727166" y="0"/>
                    <a:pt x="1732228" y="2097"/>
                    <a:pt x="1735960" y="5829"/>
                  </a:cubicBezTo>
                  <a:cubicBezTo>
                    <a:pt x="1739692" y="9561"/>
                    <a:pt x="1741789" y="14623"/>
                    <a:pt x="1741789" y="19901"/>
                  </a:cubicBezTo>
                  <a:lnTo>
                    <a:pt x="1741789" y="496247"/>
                  </a:lnTo>
                  <a:cubicBezTo>
                    <a:pt x="1741789" y="501525"/>
                    <a:pt x="1739692" y="506587"/>
                    <a:pt x="1735960" y="510319"/>
                  </a:cubicBezTo>
                  <a:cubicBezTo>
                    <a:pt x="1732228" y="514051"/>
                    <a:pt x="1727166" y="516148"/>
                    <a:pt x="1721888" y="516148"/>
                  </a:cubicBezTo>
                  <a:lnTo>
                    <a:pt x="19901" y="516148"/>
                  </a:lnTo>
                  <a:cubicBezTo>
                    <a:pt x="14623" y="516148"/>
                    <a:pt x="9561" y="514051"/>
                    <a:pt x="5829" y="510319"/>
                  </a:cubicBezTo>
                  <a:cubicBezTo>
                    <a:pt x="2097" y="506587"/>
                    <a:pt x="0" y="501525"/>
                    <a:pt x="0" y="496247"/>
                  </a:cubicBezTo>
                  <a:lnTo>
                    <a:pt x="0" y="19901"/>
                  </a:lnTo>
                  <a:cubicBezTo>
                    <a:pt x="0" y="14623"/>
                    <a:pt x="2097" y="9561"/>
                    <a:pt x="5829" y="5829"/>
                  </a:cubicBezTo>
                  <a:cubicBezTo>
                    <a:pt x="9561" y="2097"/>
                    <a:pt x="14623" y="0"/>
                    <a:pt x="19901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1741789" cy="45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Accesibilidad inmediata: </a:t>
              </a:r>
            </a:p>
            <a:p>
              <a:pPr algn="ctr">
                <a:lnSpc>
                  <a:spcPts val="3295"/>
                </a:lnSpc>
              </a:pP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Permitir el uso de la característica principal de la aplicación sin necesidad de registro alguno.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34787" y="7189715"/>
            <a:ext cx="4805266" cy="1959750"/>
            <a:chOff x="0" y="0"/>
            <a:chExt cx="1265584" cy="5161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5584" cy="516148"/>
            </a:xfrm>
            <a:custGeom>
              <a:avLst/>
              <a:gdLst/>
              <a:ahLst/>
              <a:cxnLst/>
              <a:rect l="l" t="t" r="r" b="b"/>
              <a:pathLst>
                <a:path w="1265584" h="516148">
                  <a:moveTo>
                    <a:pt x="27389" y="0"/>
                  </a:moveTo>
                  <a:lnTo>
                    <a:pt x="1238195" y="0"/>
                  </a:lnTo>
                  <a:cubicBezTo>
                    <a:pt x="1253322" y="0"/>
                    <a:pt x="1265584" y="12263"/>
                    <a:pt x="1265584" y="27389"/>
                  </a:cubicBezTo>
                  <a:lnTo>
                    <a:pt x="1265584" y="488759"/>
                  </a:lnTo>
                  <a:cubicBezTo>
                    <a:pt x="1265584" y="496023"/>
                    <a:pt x="1262699" y="502990"/>
                    <a:pt x="1257562" y="508126"/>
                  </a:cubicBezTo>
                  <a:cubicBezTo>
                    <a:pt x="1252426" y="513262"/>
                    <a:pt x="1245459" y="516148"/>
                    <a:pt x="1238195" y="516148"/>
                  </a:cubicBezTo>
                  <a:lnTo>
                    <a:pt x="27389" y="516148"/>
                  </a:lnTo>
                  <a:cubicBezTo>
                    <a:pt x="12263" y="516148"/>
                    <a:pt x="0" y="503886"/>
                    <a:pt x="0" y="488759"/>
                  </a:cubicBezTo>
                  <a:lnTo>
                    <a:pt x="0" y="27389"/>
                  </a:lnTo>
                  <a:cubicBezTo>
                    <a:pt x="0" y="12263"/>
                    <a:pt x="12263" y="0"/>
                    <a:pt x="27389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7150"/>
              <a:ext cx="1265584" cy="45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Generación de documentos: </a:t>
              </a:r>
            </a:p>
            <a:p>
              <a:pPr algn="ctr">
                <a:lnSpc>
                  <a:spcPts val="3295"/>
                </a:lnSpc>
              </a:pP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Exportar cotizaciones en formato word.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34787" y="2355537"/>
            <a:ext cx="10038595" cy="4548429"/>
            <a:chOff x="0" y="0"/>
            <a:chExt cx="2643910" cy="11979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43910" cy="1197940"/>
            </a:xfrm>
            <a:custGeom>
              <a:avLst/>
              <a:gdLst/>
              <a:ahLst/>
              <a:cxnLst/>
              <a:rect l="l" t="t" r="r" b="b"/>
              <a:pathLst>
                <a:path w="2643910" h="1197940">
                  <a:moveTo>
                    <a:pt x="13111" y="0"/>
                  </a:moveTo>
                  <a:lnTo>
                    <a:pt x="2630799" y="0"/>
                  </a:lnTo>
                  <a:cubicBezTo>
                    <a:pt x="2634276" y="0"/>
                    <a:pt x="2637611" y="1381"/>
                    <a:pt x="2640070" y="3840"/>
                  </a:cubicBezTo>
                  <a:cubicBezTo>
                    <a:pt x="2642529" y="6299"/>
                    <a:pt x="2643910" y="9633"/>
                    <a:pt x="2643910" y="13111"/>
                  </a:cubicBezTo>
                  <a:lnTo>
                    <a:pt x="2643910" y="1184830"/>
                  </a:lnTo>
                  <a:cubicBezTo>
                    <a:pt x="2643910" y="1192070"/>
                    <a:pt x="2638040" y="1197940"/>
                    <a:pt x="2630799" y="1197940"/>
                  </a:cubicBezTo>
                  <a:lnTo>
                    <a:pt x="13111" y="1197940"/>
                  </a:lnTo>
                  <a:cubicBezTo>
                    <a:pt x="5870" y="1197940"/>
                    <a:pt x="0" y="1192070"/>
                    <a:pt x="0" y="1184830"/>
                  </a:cubicBezTo>
                  <a:lnTo>
                    <a:pt x="0" y="13111"/>
                  </a:lnTo>
                  <a:cubicBezTo>
                    <a:pt x="0" y="9633"/>
                    <a:pt x="1381" y="6299"/>
                    <a:pt x="3840" y="3840"/>
                  </a:cubicBezTo>
                  <a:cubicBezTo>
                    <a:pt x="6299" y="1381"/>
                    <a:pt x="9633" y="0"/>
                    <a:pt x="13111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57150"/>
              <a:ext cx="2643910" cy="1140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Almacenamiento y Reutilización: </a:t>
              </a:r>
            </a:p>
            <a:p>
              <a:pPr algn="ctr">
                <a:lnSpc>
                  <a:spcPts val="3295"/>
                </a:lnSpc>
              </a:pPr>
              <a:endParaRPr lang="en-US" sz="319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endParaRPr>
            </a:p>
            <a:p>
              <a:pPr algn="ctr">
                <a:lnSpc>
                  <a:spcPts val="3295"/>
                </a:lnSpc>
              </a:pP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Permitir plantillas locales sin necesidad de registro. Ofrecer almacenamiento en la nube para usuarios registrados y permitir gestionar y reutilizar plantillas de cotizaciones en la nube en cualquier momento.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21053" y="7189715"/>
            <a:ext cx="4852329" cy="1959750"/>
            <a:chOff x="0" y="0"/>
            <a:chExt cx="1277980" cy="51614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77980" cy="516148"/>
            </a:xfrm>
            <a:custGeom>
              <a:avLst/>
              <a:gdLst/>
              <a:ahLst/>
              <a:cxnLst/>
              <a:rect l="l" t="t" r="r" b="b"/>
              <a:pathLst>
                <a:path w="1277980" h="516148">
                  <a:moveTo>
                    <a:pt x="27124" y="0"/>
                  </a:moveTo>
                  <a:lnTo>
                    <a:pt x="1250856" y="0"/>
                  </a:lnTo>
                  <a:cubicBezTo>
                    <a:pt x="1258050" y="0"/>
                    <a:pt x="1264949" y="2858"/>
                    <a:pt x="1270035" y="7944"/>
                  </a:cubicBezTo>
                  <a:cubicBezTo>
                    <a:pt x="1275122" y="13031"/>
                    <a:pt x="1277980" y="19930"/>
                    <a:pt x="1277980" y="27124"/>
                  </a:cubicBezTo>
                  <a:lnTo>
                    <a:pt x="1277980" y="489025"/>
                  </a:lnTo>
                  <a:cubicBezTo>
                    <a:pt x="1277980" y="496218"/>
                    <a:pt x="1275122" y="503117"/>
                    <a:pt x="1270035" y="508204"/>
                  </a:cubicBezTo>
                  <a:cubicBezTo>
                    <a:pt x="1264949" y="513290"/>
                    <a:pt x="1258050" y="516148"/>
                    <a:pt x="1250856" y="516148"/>
                  </a:cubicBezTo>
                  <a:lnTo>
                    <a:pt x="27124" y="516148"/>
                  </a:lnTo>
                  <a:cubicBezTo>
                    <a:pt x="19930" y="516148"/>
                    <a:pt x="13031" y="513290"/>
                    <a:pt x="7944" y="508204"/>
                  </a:cubicBezTo>
                  <a:cubicBezTo>
                    <a:pt x="2858" y="503117"/>
                    <a:pt x="0" y="496218"/>
                    <a:pt x="0" y="489025"/>
                  </a:cubicBezTo>
                  <a:lnTo>
                    <a:pt x="0" y="27124"/>
                  </a:lnTo>
                  <a:cubicBezTo>
                    <a:pt x="0" y="19930"/>
                    <a:pt x="2858" y="13031"/>
                    <a:pt x="7944" y="7944"/>
                  </a:cubicBezTo>
                  <a:cubicBezTo>
                    <a:pt x="13031" y="2858"/>
                    <a:pt x="19930" y="0"/>
                    <a:pt x="27124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57150"/>
              <a:ext cx="1277980" cy="45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3199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Cálculos automáticos: </a:t>
              </a:r>
            </a:p>
            <a:p>
              <a:pPr algn="ctr">
                <a:lnSpc>
                  <a:spcPts val="3295"/>
                </a:lnSpc>
              </a:pPr>
              <a:r>
                <a:rPr lang="en-US" sz="319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Calcular automáticamente subtotales, IVA y totales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57976" y="9069035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542117" y="-10976181"/>
            <a:ext cx="2365665" cy="23211180"/>
            <a:chOff x="0" y="0"/>
            <a:chExt cx="623056" cy="6113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3056" cy="6113233"/>
            </a:xfrm>
            <a:custGeom>
              <a:avLst/>
              <a:gdLst/>
              <a:ahLst/>
              <a:cxnLst/>
              <a:rect l="l" t="t" r="r" b="b"/>
              <a:pathLst>
                <a:path w="623056" h="6113233">
                  <a:moveTo>
                    <a:pt x="0" y="0"/>
                  </a:moveTo>
                  <a:lnTo>
                    <a:pt x="623056" y="0"/>
                  </a:lnTo>
                  <a:lnTo>
                    <a:pt x="623056" y="6113233"/>
                  </a:lnTo>
                  <a:lnTo>
                    <a:pt x="0" y="6113233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23056" cy="6170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78790" y="2687312"/>
            <a:ext cx="277107" cy="247818"/>
            <a:chOff x="0" y="0"/>
            <a:chExt cx="91718" cy="820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78790" y="4639112"/>
            <a:ext cx="277107" cy="247818"/>
            <a:chOff x="0" y="0"/>
            <a:chExt cx="91718" cy="820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81" y="4717101"/>
            <a:ext cx="277107" cy="247818"/>
            <a:chOff x="0" y="0"/>
            <a:chExt cx="91718" cy="820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81" y="2641391"/>
            <a:ext cx="277107" cy="247818"/>
            <a:chOff x="0" y="0"/>
            <a:chExt cx="91718" cy="820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-5892899" y="8758787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19"/>
          <p:cNvGrpSpPr/>
          <p:nvPr/>
        </p:nvGrpSpPr>
        <p:grpSpPr>
          <a:xfrm>
            <a:off x="7078781" y="7086285"/>
            <a:ext cx="239021" cy="213758"/>
            <a:chOff x="0" y="0"/>
            <a:chExt cx="91718" cy="820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44705" y="7086285"/>
            <a:ext cx="239021" cy="213758"/>
            <a:chOff x="0" y="0"/>
            <a:chExt cx="91718" cy="820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55321" y="7086285"/>
            <a:ext cx="239021" cy="213758"/>
            <a:chOff x="0" y="0"/>
            <a:chExt cx="91718" cy="820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718" cy="82024"/>
            </a:xfrm>
            <a:custGeom>
              <a:avLst/>
              <a:gdLst/>
              <a:ahLst/>
              <a:cxnLst/>
              <a:rect l="l" t="t" r="r" b="b"/>
              <a:pathLst>
                <a:path w="91718" h="82024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134974" y="6490946"/>
            <a:ext cx="1190679" cy="1190679"/>
          </a:xfrm>
          <a:custGeom>
            <a:avLst/>
            <a:gdLst/>
            <a:ahLst/>
            <a:cxnLst/>
            <a:rect l="l" t="t" r="r" b="b"/>
            <a:pathLst>
              <a:path w="1190679" h="1190679">
                <a:moveTo>
                  <a:pt x="0" y="0"/>
                </a:moveTo>
                <a:lnTo>
                  <a:pt x="1190679" y="0"/>
                </a:lnTo>
                <a:lnTo>
                  <a:pt x="1190679" y="1190679"/>
                </a:lnTo>
                <a:lnTo>
                  <a:pt x="0" y="1190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Freeform 29"/>
          <p:cNvSpPr/>
          <p:nvPr/>
        </p:nvSpPr>
        <p:spPr>
          <a:xfrm>
            <a:off x="1134974" y="2202213"/>
            <a:ext cx="1164217" cy="1164217"/>
          </a:xfrm>
          <a:custGeom>
            <a:avLst/>
            <a:gdLst/>
            <a:ahLst/>
            <a:cxnLst/>
            <a:rect l="l" t="t" r="r" b="b"/>
            <a:pathLst>
              <a:path w="1164217" h="1164217">
                <a:moveTo>
                  <a:pt x="0" y="0"/>
                </a:moveTo>
                <a:lnTo>
                  <a:pt x="1164217" y="0"/>
                </a:lnTo>
                <a:lnTo>
                  <a:pt x="1164217" y="1164216"/>
                </a:lnTo>
                <a:lnTo>
                  <a:pt x="0" y="116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0" name="Group 30"/>
          <p:cNvGrpSpPr/>
          <p:nvPr/>
        </p:nvGrpSpPr>
        <p:grpSpPr>
          <a:xfrm>
            <a:off x="2574247" y="2202213"/>
            <a:ext cx="13638954" cy="4288733"/>
            <a:chOff x="0" y="0"/>
            <a:chExt cx="3592153" cy="112954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92152" cy="1129543"/>
            </a:xfrm>
            <a:custGeom>
              <a:avLst/>
              <a:gdLst/>
              <a:ahLst/>
              <a:cxnLst/>
              <a:rect l="l" t="t" r="r" b="b"/>
              <a:pathLst>
                <a:path w="3592152" h="1129543">
                  <a:moveTo>
                    <a:pt x="28949" y="0"/>
                  </a:moveTo>
                  <a:lnTo>
                    <a:pt x="3563203" y="0"/>
                  </a:lnTo>
                  <a:cubicBezTo>
                    <a:pt x="3579192" y="0"/>
                    <a:pt x="3592152" y="12961"/>
                    <a:pt x="3592152" y="28949"/>
                  </a:cubicBezTo>
                  <a:lnTo>
                    <a:pt x="3592152" y="1100594"/>
                  </a:lnTo>
                  <a:cubicBezTo>
                    <a:pt x="3592152" y="1116582"/>
                    <a:pt x="3579192" y="1129543"/>
                    <a:pt x="3563203" y="1129543"/>
                  </a:cubicBezTo>
                  <a:lnTo>
                    <a:pt x="28949" y="1129543"/>
                  </a:lnTo>
                  <a:cubicBezTo>
                    <a:pt x="12961" y="1129543"/>
                    <a:pt x="0" y="1116582"/>
                    <a:pt x="0" y="1100594"/>
                  </a:cubicBezTo>
                  <a:lnTo>
                    <a:pt x="0" y="28949"/>
                  </a:lnTo>
                  <a:cubicBezTo>
                    <a:pt x="0" y="12961"/>
                    <a:pt x="12961" y="0"/>
                    <a:pt x="28949" y="0"/>
                  </a:cubicBezTo>
                  <a:close/>
                </a:path>
              </a:pathLst>
            </a:custGeom>
            <a:solidFill>
              <a:srgbClr val="D0EEE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85725"/>
              <a:ext cx="3592153" cy="104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574247" y="6772383"/>
            <a:ext cx="13638954" cy="2702756"/>
            <a:chOff x="0" y="0"/>
            <a:chExt cx="3592153" cy="7118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92152" cy="711837"/>
            </a:xfrm>
            <a:custGeom>
              <a:avLst/>
              <a:gdLst/>
              <a:ahLst/>
              <a:cxnLst/>
              <a:rect l="l" t="t" r="r" b="b"/>
              <a:pathLst>
                <a:path w="3592152" h="711837">
                  <a:moveTo>
                    <a:pt x="28949" y="0"/>
                  </a:moveTo>
                  <a:lnTo>
                    <a:pt x="3563203" y="0"/>
                  </a:lnTo>
                  <a:cubicBezTo>
                    <a:pt x="3579192" y="0"/>
                    <a:pt x="3592152" y="12961"/>
                    <a:pt x="3592152" y="28949"/>
                  </a:cubicBezTo>
                  <a:lnTo>
                    <a:pt x="3592152" y="682888"/>
                  </a:lnTo>
                  <a:cubicBezTo>
                    <a:pt x="3592152" y="698876"/>
                    <a:pt x="3579192" y="711837"/>
                    <a:pt x="3563203" y="711837"/>
                  </a:cubicBezTo>
                  <a:lnTo>
                    <a:pt x="28949" y="711837"/>
                  </a:lnTo>
                  <a:cubicBezTo>
                    <a:pt x="12961" y="711837"/>
                    <a:pt x="0" y="698876"/>
                    <a:pt x="0" y="682888"/>
                  </a:cubicBezTo>
                  <a:lnTo>
                    <a:pt x="0" y="28949"/>
                  </a:lnTo>
                  <a:cubicBezTo>
                    <a:pt x="0" y="12961"/>
                    <a:pt x="12961" y="0"/>
                    <a:pt x="28949" y="0"/>
                  </a:cubicBezTo>
                  <a:close/>
                </a:path>
              </a:pathLst>
            </a:custGeom>
            <a:solidFill>
              <a:srgbClr val="F0D6C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85725"/>
              <a:ext cx="3592153" cy="62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574811" y="629409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7" name="Freeform 37"/>
          <p:cNvSpPr/>
          <p:nvPr/>
        </p:nvSpPr>
        <p:spPr>
          <a:xfrm>
            <a:off x="15066237" y="0"/>
            <a:ext cx="3221763" cy="1812242"/>
          </a:xfrm>
          <a:custGeom>
            <a:avLst/>
            <a:gdLst/>
            <a:ahLst/>
            <a:cxnLst/>
            <a:rect l="l" t="t" r="r" b="b"/>
            <a:pathLst>
              <a:path w="3221763" h="1812242">
                <a:moveTo>
                  <a:pt x="0" y="0"/>
                </a:moveTo>
                <a:lnTo>
                  <a:pt x="3221763" y="0"/>
                </a:lnTo>
                <a:lnTo>
                  <a:pt x="3221763" y="1812242"/>
                </a:lnTo>
                <a:lnTo>
                  <a:pt x="0" y="18122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8" name="TextBox 38"/>
          <p:cNvSpPr txBox="1"/>
          <p:nvPr/>
        </p:nvSpPr>
        <p:spPr>
          <a:xfrm>
            <a:off x="4930691" y="255282"/>
            <a:ext cx="8426619" cy="142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0"/>
              </a:lnSpc>
            </a:pPr>
            <a:r>
              <a:rPr lang="en-US" sz="10650" b="1" spc="-5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Alcances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60767" y="2573098"/>
            <a:ext cx="5534670" cy="166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</a:pPr>
            <a:r>
              <a:rPr lang="en-US" sz="4247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Generar documentos de cotización con cálculos inmediatos. 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74540" y="2527176"/>
            <a:ext cx="5534670" cy="166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</a:pPr>
            <a:r>
              <a:rPr lang="en-US" sz="4247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Exportar e importar plantillas de manera local.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60767" y="4669391"/>
            <a:ext cx="5534670" cy="166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</a:pPr>
            <a:r>
              <a:rPr lang="en-US" sz="4247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Almacenar cotizaciones en la nube.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74540" y="4669391"/>
            <a:ext cx="5534670" cy="166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</a:pPr>
            <a:r>
              <a:rPr lang="en-US" sz="4247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Gestionar cotizaciones hechas en la plataforma.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08416" y="7046630"/>
            <a:ext cx="3407403" cy="17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2"/>
              </a:lnSpc>
            </a:pPr>
            <a:r>
              <a:rPr lang="en-US" sz="4362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Sin vínculos con el SII</a:t>
            </a:r>
          </a:p>
          <a:p>
            <a:pPr algn="just">
              <a:lnSpc>
                <a:spcPts val="4492"/>
              </a:lnSpc>
            </a:pPr>
            <a:endParaRPr lang="en-US" sz="4362" b="1">
              <a:solidFill>
                <a:srgbClr val="34343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108416" y="8248758"/>
            <a:ext cx="3407403" cy="100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1"/>
              </a:lnSpc>
            </a:pPr>
            <a:r>
              <a:rPr lang="en-US" sz="17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No está conectado con el SII ni realiza facturación electrónica oficial.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42491" y="7046630"/>
            <a:ext cx="4173895" cy="17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2"/>
              </a:lnSpc>
            </a:pPr>
            <a:r>
              <a:rPr lang="en-US" sz="4362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Sin gestión de procesos</a:t>
            </a:r>
          </a:p>
          <a:p>
            <a:pPr algn="just">
              <a:lnSpc>
                <a:spcPts val="4492"/>
              </a:lnSpc>
            </a:pPr>
            <a:endParaRPr lang="en-US" sz="4362" b="1">
              <a:solidFill>
                <a:srgbClr val="34343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442491" y="8248758"/>
            <a:ext cx="4173895" cy="66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1"/>
              </a:lnSpc>
            </a:pPr>
            <a:r>
              <a:rPr lang="en-US" sz="17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No maneja aprobaciones, rechazos ni flujos de trabajo empresariales.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19032" y="7046630"/>
            <a:ext cx="3229225" cy="17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2"/>
              </a:lnSpc>
            </a:pPr>
            <a:r>
              <a:rPr lang="en-US" sz="4362" b="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Sin gestión documental</a:t>
            </a:r>
          </a:p>
          <a:p>
            <a:pPr algn="just">
              <a:lnSpc>
                <a:spcPts val="4492"/>
              </a:lnSpc>
            </a:pPr>
            <a:endParaRPr lang="en-US" sz="4362" b="1">
              <a:solidFill>
                <a:srgbClr val="34343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2619032" y="8248758"/>
            <a:ext cx="3229225" cy="100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1"/>
              </a:lnSpc>
            </a:pPr>
            <a:r>
              <a:rPr lang="en-US" sz="17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No está integrado con sistemas de gestión de documentos empresariales.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30217" y="7707445"/>
            <a:ext cx="7624730" cy="7624730"/>
          </a:xfrm>
          <a:custGeom>
            <a:avLst/>
            <a:gdLst/>
            <a:ahLst/>
            <a:cxnLst/>
            <a:rect l="l" t="t" r="r" b="b"/>
            <a:pathLst>
              <a:path w="7624730" h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542117" y="-10976181"/>
            <a:ext cx="2365665" cy="23211180"/>
            <a:chOff x="0" y="0"/>
            <a:chExt cx="623056" cy="6113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3056" cy="6113233"/>
            </a:xfrm>
            <a:custGeom>
              <a:avLst/>
              <a:gdLst/>
              <a:ahLst/>
              <a:cxnLst/>
              <a:rect l="l" t="t" r="r" b="b"/>
              <a:pathLst>
                <a:path w="623056" h="6113233">
                  <a:moveTo>
                    <a:pt x="0" y="0"/>
                  </a:moveTo>
                  <a:lnTo>
                    <a:pt x="623056" y="0"/>
                  </a:lnTo>
                  <a:lnTo>
                    <a:pt x="623056" y="6113233"/>
                  </a:lnTo>
                  <a:lnTo>
                    <a:pt x="0" y="6113233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23056" cy="6170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78291" y="200025"/>
            <a:ext cx="7726656" cy="142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0"/>
              </a:lnSpc>
            </a:pPr>
            <a:r>
              <a:rPr lang="en-US" sz="10650" b="1" spc="-5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Cronograma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6373048"/>
            <a:ext cx="18288000" cy="9525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3398922" y="6232393"/>
            <a:ext cx="300359" cy="300359"/>
          </a:xfrm>
          <a:custGeom>
            <a:avLst/>
            <a:gdLst/>
            <a:ahLst/>
            <a:cxnLst/>
            <a:rect l="l" t="t" r="r" b="b"/>
            <a:pathLst>
              <a:path w="300359" h="300359">
                <a:moveTo>
                  <a:pt x="0" y="0"/>
                </a:moveTo>
                <a:lnTo>
                  <a:pt x="300359" y="0"/>
                </a:lnTo>
                <a:lnTo>
                  <a:pt x="300359" y="300359"/>
                </a:lnTo>
                <a:lnTo>
                  <a:pt x="0" y="300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5521876" y="3674485"/>
            <a:ext cx="1661255" cy="1661255"/>
          </a:xfrm>
          <a:custGeom>
            <a:avLst/>
            <a:gdLst/>
            <a:ahLst/>
            <a:cxnLst/>
            <a:rect l="l" t="t" r="r" b="b"/>
            <a:pathLst>
              <a:path w="1661255" h="1661255">
                <a:moveTo>
                  <a:pt x="0" y="0"/>
                </a:moveTo>
                <a:lnTo>
                  <a:pt x="1661256" y="0"/>
                </a:lnTo>
                <a:lnTo>
                  <a:pt x="1661256" y="1661256"/>
                </a:lnTo>
                <a:lnTo>
                  <a:pt x="0" y="1661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>
            <a:off x="6342979" y="5335741"/>
            <a:ext cx="9525" cy="896652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6197562" y="6232393"/>
            <a:ext cx="300359" cy="300359"/>
          </a:xfrm>
          <a:custGeom>
            <a:avLst/>
            <a:gdLst/>
            <a:ahLst/>
            <a:cxnLst/>
            <a:rect l="l" t="t" r="r" b="b"/>
            <a:pathLst>
              <a:path w="300359" h="300359">
                <a:moveTo>
                  <a:pt x="0" y="0"/>
                </a:moveTo>
                <a:lnTo>
                  <a:pt x="300359" y="0"/>
                </a:lnTo>
                <a:lnTo>
                  <a:pt x="300359" y="300359"/>
                </a:lnTo>
                <a:lnTo>
                  <a:pt x="0" y="300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8310991" y="3674485"/>
            <a:ext cx="1661255" cy="1661255"/>
          </a:xfrm>
          <a:custGeom>
            <a:avLst/>
            <a:gdLst/>
            <a:ahLst/>
            <a:cxnLst/>
            <a:rect l="l" t="t" r="r" b="b"/>
            <a:pathLst>
              <a:path w="1661255" h="1661255">
                <a:moveTo>
                  <a:pt x="0" y="0"/>
                </a:moveTo>
                <a:lnTo>
                  <a:pt x="1661255" y="0"/>
                </a:lnTo>
                <a:lnTo>
                  <a:pt x="1661255" y="1661256"/>
                </a:lnTo>
                <a:lnTo>
                  <a:pt x="0" y="16612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AutoShape 13"/>
          <p:cNvSpPr/>
          <p:nvPr/>
        </p:nvSpPr>
        <p:spPr>
          <a:xfrm>
            <a:off x="9141619" y="5335741"/>
            <a:ext cx="9525" cy="896652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8996202" y="6232393"/>
            <a:ext cx="300359" cy="300359"/>
          </a:xfrm>
          <a:custGeom>
            <a:avLst/>
            <a:gdLst/>
            <a:ahLst/>
            <a:cxnLst/>
            <a:rect l="l" t="t" r="r" b="b"/>
            <a:pathLst>
              <a:path w="300359" h="300359">
                <a:moveTo>
                  <a:pt x="0" y="0"/>
                </a:moveTo>
                <a:lnTo>
                  <a:pt x="300359" y="0"/>
                </a:lnTo>
                <a:lnTo>
                  <a:pt x="300359" y="300359"/>
                </a:lnTo>
                <a:lnTo>
                  <a:pt x="0" y="300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1114393" y="3674485"/>
            <a:ext cx="1661255" cy="1661255"/>
          </a:xfrm>
          <a:custGeom>
            <a:avLst/>
            <a:gdLst/>
            <a:ahLst/>
            <a:cxnLst/>
            <a:rect l="l" t="t" r="r" b="b"/>
            <a:pathLst>
              <a:path w="1661255" h="1661255">
                <a:moveTo>
                  <a:pt x="0" y="0"/>
                </a:moveTo>
                <a:lnTo>
                  <a:pt x="1661256" y="0"/>
                </a:lnTo>
                <a:lnTo>
                  <a:pt x="1661256" y="1661256"/>
                </a:lnTo>
                <a:lnTo>
                  <a:pt x="0" y="16612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AutoShape 16"/>
          <p:cNvSpPr/>
          <p:nvPr/>
        </p:nvSpPr>
        <p:spPr>
          <a:xfrm>
            <a:off x="11940259" y="5335741"/>
            <a:ext cx="9525" cy="896652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1794841" y="6232393"/>
            <a:ext cx="300359" cy="300359"/>
          </a:xfrm>
          <a:custGeom>
            <a:avLst/>
            <a:gdLst/>
            <a:ahLst/>
            <a:cxnLst/>
            <a:rect l="l" t="t" r="r" b="b"/>
            <a:pathLst>
              <a:path w="300359" h="300359">
                <a:moveTo>
                  <a:pt x="0" y="0"/>
                </a:moveTo>
                <a:lnTo>
                  <a:pt x="300360" y="0"/>
                </a:lnTo>
                <a:lnTo>
                  <a:pt x="300360" y="300359"/>
                </a:lnTo>
                <a:lnTo>
                  <a:pt x="0" y="3003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14593481" y="6232393"/>
            <a:ext cx="300359" cy="300359"/>
          </a:xfrm>
          <a:custGeom>
            <a:avLst/>
            <a:gdLst/>
            <a:ahLst/>
            <a:cxnLst/>
            <a:rect l="l" t="t" r="r" b="b"/>
            <a:pathLst>
              <a:path w="300359" h="300359">
                <a:moveTo>
                  <a:pt x="0" y="0"/>
                </a:moveTo>
                <a:lnTo>
                  <a:pt x="300359" y="0"/>
                </a:lnTo>
                <a:lnTo>
                  <a:pt x="300359" y="300359"/>
                </a:lnTo>
                <a:lnTo>
                  <a:pt x="0" y="300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2425639" y="6904227"/>
            <a:ext cx="2237401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Semana 1 a la 4.</a:t>
            </a:r>
          </a:p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Planificación del Proyecto.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29041" y="6904227"/>
            <a:ext cx="2237401" cy="244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Semana 5 a la 7.</a:t>
            </a:r>
          </a:p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Desarrollo de cotizador para usuarios no registrados.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27681" y="6904227"/>
            <a:ext cx="2483201" cy="244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Semana 8 a la 10.</a:t>
            </a:r>
          </a:p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Implementación de los servicios web (base de datos).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26320" y="6904227"/>
            <a:ext cx="2237401" cy="244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Semana 11 a la 12.</a:t>
            </a:r>
          </a:p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Desarrollo de cotizador para usuarios registrados.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24960" y="6904227"/>
            <a:ext cx="2237401" cy="244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Semana 13 a la 16.</a:t>
            </a:r>
          </a:p>
          <a:p>
            <a:pPr algn="ctr">
              <a:lnSpc>
                <a:spcPts val="3299"/>
              </a:lnSpc>
            </a:pPr>
            <a:r>
              <a:rPr lang="en-US" sz="2199" b="1" spc="109">
                <a:solidFill>
                  <a:srgbClr val="191919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Proceso de Pruebas y despliegue de la webapp.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713712" y="3674485"/>
            <a:ext cx="1661255" cy="1661255"/>
          </a:xfrm>
          <a:custGeom>
            <a:avLst/>
            <a:gdLst/>
            <a:ahLst/>
            <a:cxnLst/>
            <a:rect l="l" t="t" r="r" b="b"/>
            <a:pathLst>
              <a:path w="1661255" h="1661255">
                <a:moveTo>
                  <a:pt x="0" y="0"/>
                </a:moveTo>
                <a:lnTo>
                  <a:pt x="1661255" y="0"/>
                </a:lnTo>
                <a:lnTo>
                  <a:pt x="1661255" y="1661256"/>
                </a:lnTo>
                <a:lnTo>
                  <a:pt x="0" y="1661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TextBox 25"/>
          <p:cNvSpPr txBox="1"/>
          <p:nvPr/>
        </p:nvSpPr>
        <p:spPr>
          <a:xfrm>
            <a:off x="2994514" y="4081251"/>
            <a:ext cx="111870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500" b="1" spc="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Épica 0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544339" y="5335741"/>
            <a:ext cx="9525" cy="896652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13917796" y="3674485"/>
            <a:ext cx="1661255" cy="1661255"/>
          </a:xfrm>
          <a:custGeom>
            <a:avLst/>
            <a:gdLst/>
            <a:ahLst/>
            <a:cxnLst/>
            <a:rect l="l" t="t" r="r" b="b"/>
            <a:pathLst>
              <a:path w="1661255" h="1661255">
                <a:moveTo>
                  <a:pt x="0" y="0"/>
                </a:moveTo>
                <a:lnTo>
                  <a:pt x="1661255" y="0"/>
                </a:lnTo>
                <a:lnTo>
                  <a:pt x="1661255" y="1661256"/>
                </a:lnTo>
                <a:lnTo>
                  <a:pt x="0" y="1661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8" name="AutoShape 28"/>
          <p:cNvSpPr/>
          <p:nvPr/>
        </p:nvSpPr>
        <p:spPr>
          <a:xfrm>
            <a:off x="14738898" y="5335741"/>
            <a:ext cx="9525" cy="896652"/>
          </a:xfrm>
          <a:prstGeom prst="rect">
            <a:avLst/>
          </a:prstGeom>
          <a:solidFill>
            <a:srgbClr val="191919"/>
          </a:solidFill>
          <a:ln w="127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5783629" y="4081251"/>
            <a:ext cx="111870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500" b="1" spc="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Épica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82268" y="4081251"/>
            <a:ext cx="111870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500" b="1" spc="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Épica 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85671" y="4081251"/>
            <a:ext cx="111870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500" b="1" spc="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Épica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79548" y="4081251"/>
            <a:ext cx="111870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500" b="1" spc="9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Épica 4</a:t>
            </a:r>
          </a:p>
        </p:txBody>
      </p:sp>
      <p:sp>
        <p:nvSpPr>
          <p:cNvPr id="33" name="Freeform 33"/>
          <p:cNvSpPr/>
          <p:nvPr/>
        </p:nvSpPr>
        <p:spPr>
          <a:xfrm>
            <a:off x="15066237" y="0"/>
            <a:ext cx="3221763" cy="1812242"/>
          </a:xfrm>
          <a:custGeom>
            <a:avLst/>
            <a:gdLst/>
            <a:ahLst/>
            <a:cxnLst/>
            <a:rect l="l" t="t" r="r" b="b"/>
            <a:pathLst>
              <a:path w="3221763" h="1812242">
                <a:moveTo>
                  <a:pt x="0" y="0"/>
                </a:moveTo>
                <a:lnTo>
                  <a:pt x="3221763" y="0"/>
                </a:lnTo>
                <a:lnTo>
                  <a:pt x="3221763" y="1812242"/>
                </a:lnTo>
                <a:lnTo>
                  <a:pt x="0" y="18122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4" name="Freeform 34"/>
          <p:cNvSpPr/>
          <p:nvPr/>
        </p:nvSpPr>
        <p:spPr>
          <a:xfrm>
            <a:off x="574811" y="629409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9341" y="-11546338"/>
            <a:ext cx="15177319" cy="15177319"/>
          </a:xfrm>
          <a:custGeom>
            <a:avLst/>
            <a:gdLst/>
            <a:ahLst/>
            <a:cxnLst/>
            <a:rect l="l" t="t" r="r" b="b"/>
            <a:pathLst>
              <a:path w="15177319" h="15177319">
                <a:moveTo>
                  <a:pt x="0" y="0"/>
                </a:moveTo>
                <a:lnTo>
                  <a:pt x="15177318" y="0"/>
                </a:lnTo>
                <a:lnTo>
                  <a:pt x="15177318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 rot="-5428128">
            <a:off x="-5540972" y="4629150"/>
            <a:ext cx="12572236" cy="1954841"/>
            <a:chOff x="0" y="0"/>
            <a:chExt cx="4648716" cy="7228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48716" cy="722823"/>
            </a:xfrm>
            <a:custGeom>
              <a:avLst/>
              <a:gdLst/>
              <a:ahLst/>
              <a:cxnLst/>
              <a:rect l="l" t="t" r="r" b="b"/>
              <a:pathLst>
                <a:path w="4648716" h="722823">
                  <a:moveTo>
                    <a:pt x="0" y="0"/>
                  </a:moveTo>
                  <a:lnTo>
                    <a:pt x="4648716" y="0"/>
                  </a:lnTo>
                  <a:lnTo>
                    <a:pt x="4648716" y="722823"/>
                  </a:lnTo>
                  <a:lnTo>
                    <a:pt x="0" y="72282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48716" cy="760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22148" y="1148641"/>
            <a:ext cx="7496092" cy="5592190"/>
            <a:chOff x="0" y="0"/>
            <a:chExt cx="1974279" cy="1472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4279" cy="1472840"/>
            </a:xfrm>
            <a:custGeom>
              <a:avLst/>
              <a:gdLst/>
              <a:ahLst/>
              <a:cxnLst/>
              <a:rect l="l" t="t" r="r" b="b"/>
              <a:pathLst>
                <a:path w="1974279" h="1472840">
                  <a:moveTo>
                    <a:pt x="17557" y="0"/>
                  </a:moveTo>
                  <a:lnTo>
                    <a:pt x="1956722" y="0"/>
                  </a:lnTo>
                  <a:cubicBezTo>
                    <a:pt x="1961379" y="0"/>
                    <a:pt x="1965844" y="1850"/>
                    <a:pt x="1969137" y="5142"/>
                  </a:cubicBezTo>
                  <a:cubicBezTo>
                    <a:pt x="1972430" y="8435"/>
                    <a:pt x="1974279" y="12901"/>
                    <a:pt x="1974279" y="17557"/>
                  </a:cubicBezTo>
                  <a:lnTo>
                    <a:pt x="1974279" y="1455283"/>
                  </a:lnTo>
                  <a:cubicBezTo>
                    <a:pt x="1974279" y="1464979"/>
                    <a:pt x="1966419" y="1472840"/>
                    <a:pt x="1956722" y="1472840"/>
                  </a:cubicBezTo>
                  <a:lnTo>
                    <a:pt x="17557" y="1472840"/>
                  </a:lnTo>
                  <a:cubicBezTo>
                    <a:pt x="7861" y="1472840"/>
                    <a:pt x="0" y="1464979"/>
                    <a:pt x="0" y="1455283"/>
                  </a:cubicBezTo>
                  <a:lnTo>
                    <a:pt x="0" y="17557"/>
                  </a:lnTo>
                  <a:cubicBezTo>
                    <a:pt x="0" y="7861"/>
                    <a:pt x="7861" y="0"/>
                    <a:pt x="175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F0730">
                    <a:alpha val="40500"/>
                  </a:srgbClr>
                </a:gs>
                <a:gs pos="100000">
                  <a:srgbClr val="829D00">
                    <a:alpha val="40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974279" cy="152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50366" y="1148641"/>
            <a:ext cx="2978726" cy="2978726"/>
          </a:xfrm>
          <a:custGeom>
            <a:avLst/>
            <a:gdLst/>
            <a:ahLst/>
            <a:cxnLst/>
            <a:rect l="l" t="t" r="r" b="b"/>
            <a:pathLst>
              <a:path w="2978726" h="2978726">
                <a:moveTo>
                  <a:pt x="0" y="0"/>
                </a:moveTo>
                <a:lnTo>
                  <a:pt x="2978725" y="0"/>
                </a:lnTo>
                <a:lnTo>
                  <a:pt x="2978725" y="2978726"/>
                </a:lnTo>
                <a:lnTo>
                  <a:pt x="0" y="2978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6250884" y="3431365"/>
            <a:ext cx="2893116" cy="2893116"/>
          </a:xfrm>
          <a:custGeom>
            <a:avLst/>
            <a:gdLst/>
            <a:ahLst/>
            <a:cxnLst/>
            <a:rect l="l" t="t" r="r" b="b"/>
            <a:pathLst>
              <a:path w="2893116" h="2893116">
                <a:moveTo>
                  <a:pt x="0" y="0"/>
                </a:moveTo>
                <a:lnTo>
                  <a:pt x="2893116" y="0"/>
                </a:lnTo>
                <a:lnTo>
                  <a:pt x="2893116" y="2893116"/>
                </a:lnTo>
                <a:lnTo>
                  <a:pt x="0" y="2893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2236367" y="4127367"/>
            <a:ext cx="3149346" cy="1925284"/>
          </a:xfrm>
          <a:custGeom>
            <a:avLst/>
            <a:gdLst/>
            <a:ahLst/>
            <a:cxnLst/>
            <a:rect l="l" t="t" r="r" b="b"/>
            <a:pathLst>
              <a:path w="3149346" h="1925284">
                <a:moveTo>
                  <a:pt x="0" y="0"/>
                </a:moveTo>
                <a:lnTo>
                  <a:pt x="3149346" y="0"/>
                </a:lnTo>
                <a:lnTo>
                  <a:pt x="3149346" y="1925284"/>
                </a:lnTo>
                <a:lnTo>
                  <a:pt x="0" y="1925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2" name="Group 12"/>
          <p:cNvGrpSpPr/>
          <p:nvPr/>
        </p:nvGrpSpPr>
        <p:grpSpPr>
          <a:xfrm>
            <a:off x="10127841" y="1148641"/>
            <a:ext cx="7496092" cy="5592190"/>
            <a:chOff x="0" y="0"/>
            <a:chExt cx="1974279" cy="1472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74279" cy="1472840"/>
            </a:xfrm>
            <a:custGeom>
              <a:avLst/>
              <a:gdLst/>
              <a:ahLst/>
              <a:cxnLst/>
              <a:rect l="l" t="t" r="r" b="b"/>
              <a:pathLst>
                <a:path w="1974279" h="1472840">
                  <a:moveTo>
                    <a:pt x="17557" y="0"/>
                  </a:moveTo>
                  <a:lnTo>
                    <a:pt x="1956722" y="0"/>
                  </a:lnTo>
                  <a:cubicBezTo>
                    <a:pt x="1961379" y="0"/>
                    <a:pt x="1965844" y="1850"/>
                    <a:pt x="1969137" y="5142"/>
                  </a:cubicBezTo>
                  <a:cubicBezTo>
                    <a:pt x="1972430" y="8435"/>
                    <a:pt x="1974279" y="12901"/>
                    <a:pt x="1974279" y="17557"/>
                  </a:cubicBezTo>
                  <a:lnTo>
                    <a:pt x="1974279" y="1455283"/>
                  </a:lnTo>
                  <a:cubicBezTo>
                    <a:pt x="1974279" y="1464979"/>
                    <a:pt x="1966419" y="1472840"/>
                    <a:pt x="1956722" y="1472840"/>
                  </a:cubicBezTo>
                  <a:lnTo>
                    <a:pt x="17557" y="1472840"/>
                  </a:lnTo>
                  <a:cubicBezTo>
                    <a:pt x="7861" y="1472840"/>
                    <a:pt x="0" y="1464979"/>
                    <a:pt x="0" y="1455283"/>
                  </a:cubicBezTo>
                  <a:lnTo>
                    <a:pt x="0" y="17557"/>
                  </a:lnTo>
                  <a:cubicBezTo>
                    <a:pt x="0" y="7861"/>
                    <a:pt x="7861" y="0"/>
                    <a:pt x="175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E6B">
                    <a:alpha val="40500"/>
                  </a:srgbClr>
                </a:gs>
                <a:gs pos="100000">
                  <a:srgbClr val="00969D">
                    <a:alpha val="40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74279" cy="152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699341" y="3877554"/>
            <a:ext cx="2290478" cy="2290478"/>
          </a:xfrm>
          <a:custGeom>
            <a:avLst/>
            <a:gdLst/>
            <a:ahLst/>
            <a:cxnLst/>
            <a:rect l="l" t="t" r="r" b="b"/>
            <a:pathLst>
              <a:path w="2290478" h="2290478">
                <a:moveTo>
                  <a:pt x="0" y="0"/>
                </a:moveTo>
                <a:lnTo>
                  <a:pt x="2290478" y="0"/>
                </a:lnTo>
                <a:lnTo>
                  <a:pt x="2290478" y="2290479"/>
                </a:lnTo>
                <a:lnTo>
                  <a:pt x="0" y="22904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4018519" y="4127367"/>
            <a:ext cx="3376770" cy="2175097"/>
          </a:xfrm>
          <a:custGeom>
            <a:avLst/>
            <a:gdLst/>
            <a:ahLst/>
            <a:cxnLst/>
            <a:rect l="l" t="t" r="r" b="b"/>
            <a:pathLst>
              <a:path w="3376770" h="2175097">
                <a:moveTo>
                  <a:pt x="0" y="0"/>
                </a:moveTo>
                <a:lnTo>
                  <a:pt x="3376770" y="0"/>
                </a:lnTo>
                <a:lnTo>
                  <a:pt x="3376770" y="2175096"/>
                </a:lnTo>
                <a:lnTo>
                  <a:pt x="0" y="21750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2525902" y="1148641"/>
            <a:ext cx="2699970" cy="2699970"/>
          </a:xfrm>
          <a:custGeom>
            <a:avLst/>
            <a:gdLst/>
            <a:ahLst/>
            <a:cxnLst/>
            <a:rect l="l" t="t" r="r" b="b"/>
            <a:pathLst>
              <a:path w="2699970" h="2699970">
                <a:moveTo>
                  <a:pt x="0" y="0"/>
                </a:moveTo>
                <a:lnTo>
                  <a:pt x="2699970" y="0"/>
                </a:lnTo>
                <a:lnTo>
                  <a:pt x="2699970" y="2699970"/>
                </a:lnTo>
                <a:lnTo>
                  <a:pt x="0" y="2699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2554776" y="8236256"/>
            <a:ext cx="4102337" cy="1338388"/>
          </a:xfrm>
          <a:custGeom>
            <a:avLst/>
            <a:gdLst/>
            <a:ahLst/>
            <a:cxnLst/>
            <a:rect l="l" t="t" r="r" b="b"/>
            <a:pathLst>
              <a:path w="4102337" h="1338388">
                <a:moveTo>
                  <a:pt x="0" y="0"/>
                </a:moveTo>
                <a:lnTo>
                  <a:pt x="4102338" y="0"/>
                </a:lnTo>
                <a:lnTo>
                  <a:pt x="4102338" y="1338387"/>
                </a:lnTo>
                <a:lnTo>
                  <a:pt x="0" y="1338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7297422" y="8303357"/>
            <a:ext cx="4609324" cy="1204186"/>
          </a:xfrm>
          <a:custGeom>
            <a:avLst/>
            <a:gdLst/>
            <a:ahLst/>
            <a:cxnLst/>
            <a:rect l="l" t="t" r="r" b="b"/>
            <a:pathLst>
              <a:path w="4609324" h="1204186">
                <a:moveTo>
                  <a:pt x="0" y="0"/>
                </a:moveTo>
                <a:lnTo>
                  <a:pt x="4609324" y="0"/>
                </a:lnTo>
                <a:lnTo>
                  <a:pt x="4609324" y="1204186"/>
                </a:lnTo>
                <a:lnTo>
                  <a:pt x="0" y="12041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Freeform 20"/>
          <p:cNvSpPr/>
          <p:nvPr/>
        </p:nvSpPr>
        <p:spPr>
          <a:xfrm>
            <a:off x="12544921" y="8303357"/>
            <a:ext cx="4850368" cy="921570"/>
          </a:xfrm>
          <a:custGeom>
            <a:avLst/>
            <a:gdLst/>
            <a:ahLst/>
            <a:cxnLst/>
            <a:rect l="l" t="t" r="r" b="b"/>
            <a:pathLst>
              <a:path w="4850368" h="921570">
                <a:moveTo>
                  <a:pt x="0" y="0"/>
                </a:moveTo>
                <a:lnTo>
                  <a:pt x="4850368" y="0"/>
                </a:lnTo>
                <a:lnTo>
                  <a:pt x="4850368" y="921570"/>
                </a:lnTo>
                <a:lnTo>
                  <a:pt x="0" y="9215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 rot="-5401628">
            <a:off x="-1623635" y="2032371"/>
            <a:ext cx="4947113" cy="11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1"/>
              </a:lnSpc>
            </a:pPr>
            <a:r>
              <a:rPr lang="en-US" sz="8799" b="1" spc="-43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Recursos</a:t>
            </a:r>
          </a:p>
        </p:txBody>
      </p:sp>
      <p:sp>
        <p:nvSpPr>
          <p:cNvPr id="22" name="AutoShape 22"/>
          <p:cNvSpPr/>
          <p:nvPr/>
        </p:nvSpPr>
        <p:spPr>
          <a:xfrm>
            <a:off x="2236367" y="7521881"/>
            <a:ext cx="151589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178701" y="9771555"/>
            <a:ext cx="1383425" cy="340452"/>
          </a:xfrm>
          <a:custGeom>
            <a:avLst/>
            <a:gdLst/>
            <a:ahLst/>
            <a:cxnLst/>
            <a:rect l="l" t="t" r="r" b="b"/>
            <a:pathLst>
              <a:path w="1383425" h="340452">
                <a:moveTo>
                  <a:pt x="0" y="0"/>
                </a:moveTo>
                <a:lnTo>
                  <a:pt x="1383425" y="0"/>
                </a:lnTo>
                <a:lnTo>
                  <a:pt x="1383425" y="340452"/>
                </a:lnTo>
                <a:lnTo>
                  <a:pt x="0" y="3404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15471992" y="0"/>
            <a:ext cx="1877338" cy="1056003"/>
          </a:xfrm>
          <a:custGeom>
            <a:avLst/>
            <a:gdLst/>
            <a:ahLst/>
            <a:cxnLst/>
            <a:rect l="l" t="t" r="r" b="b"/>
            <a:pathLst>
              <a:path w="1877338" h="1056003">
                <a:moveTo>
                  <a:pt x="0" y="0"/>
                </a:moveTo>
                <a:lnTo>
                  <a:pt x="1877339" y="0"/>
                </a:lnTo>
                <a:lnTo>
                  <a:pt x="1877339" y="1056003"/>
                </a:lnTo>
                <a:lnTo>
                  <a:pt x="0" y="10560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28128">
            <a:off x="-5540972" y="4629150"/>
            <a:ext cx="12572236" cy="1954841"/>
            <a:chOff x="0" y="0"/>
            <a:chExt cx="4648716" cy="722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8716" cy="722823"/>
            </a:xfrm>
            <a:custGeom>
              <a:avLst/>
              <a:gdLst/>
              <a:ahLst/>
              <a:cxnLst/>
              <a:rect l="l" t="t" r="r" b="b"/>
              <a:pathLst>
                <a:path w="4648716" h="722823">
                  <a:moveTo>
                    <a:pt x="0" y="0"/>
                  </a:moveTo>
                  <a:lnTo>
                    <a:pt x="4648716" y="0"/>
                  </a:lnTo>
                  <a:lnTo>
                    <a:pt x="4648716" y="722823"/>
                  </a:lnTo>
                  <a:lnTo>
                    <a:pt x="0" y="72282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48716" cy="760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495506" y="-5822726"/>
            <a:ext cx="9584989" cy="9584989"/>
          </a:xfrm>
          <a:custGeom>
            <a:avLst/>
            <a:gdLst/>
            <a:ahLst/>
            <a:cxnLst/>
            <a:rect l="l" t="t" r="r" b="b"/>
            <a:pathLst>
              <a:path w="9584989" h="9584989">
                <a:moveTo>
                  <a:pt x="0" y="0"/>
                </a:moveTo>
                <a:lnTo>
                  <a:pt x="9584988" y="0"/>
                </a:lnTo>
                <a:lnTo>
                  <a:pt x="9584988" y="9584988"/>
                </a:lnTo>
                <a:lnTo>
                  <a:pt x="0" y="9584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78701" y="9771555"/>
            <a:ext cx="1383425" cy="340452"/>
          </a:xfrm>
          <a:custGeom>
            <a:avLst/>
            <a:gdLst/>
            <a:ahLst/>
            <a:cxnLst/>
            <a:rect l="l" t="t" r="r" b="b"/>
            <a:pathLst>
              <a:path w="1383425" h="340452">
                <a:moveTo>
                  <a:pt x="0" y="0"/>
                </a:moveTo>
                <a:lnTo>
                  <a:pt x="1383425" y="0"/>
                </a:lnTo>
                <a:lnTo>
                  <a:pt x="1383425" y="340452"/>
                </a:lnTo>
                <a:lnTo>
                  <a:pt x="0" y="340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5471992" y="0"/>
            <a:ext cx="1877338" cy="1056003"/>
          </a:xfrm>
          <a:custGeom>
            <a:avLst/>
            <a:gdLst/>
            <a:ahLst/>
            <a:cxnLst/>
            <a:rect l="l" t="t" r="r" b="b"/>
            <a:pathLst>
              <a:path w="1877338" h="1056003">
                <a:moveTo>
                  <a:pt x="0" y="0"/>
                </a:moveTo>
                <a:lnTo>
                  <a:pt x="1877339" y="0"/>
                </a:lnTo>
                <a:lnTo>
                  <a:pt x="1877339" y="1056003"/>
                </a:lnTo>
                <a:lnTo>
                  <a:pt x="0" y="1056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773968" y="482412"/>
            <a:ext cx="16514032" cy="9289143"/>
          </a:xfrm>
          <a:custGeom>
            <a:avLst/>
            <a:gdLst/>
            <a:ahLst/>
            <a:cxnLst/>
            <a:rect l="l" t="t" r="r" b="b"/>
            <a:pathLst>
              <a:path w="16514032" h="9289143">
                <a:moveTo>
                  <a:pt x="0" y="0"/>
                </a:moveTo>
                <a:lnTo>
                  <a:pt x="16514032" y="0"/>
                </a:lnTo>
                <a:lnTo>
                  <a:pt x="16514032" y="9289143"/>
                </a:lnTo>
                <a:lnTo>
                  <a:pt x="0" y="928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 rot="-5401628">
            <a:off x="-2715065" y="2945621"/>
            <a:ext cx="7072827" cy="118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3"/>
              </a:lnSpc>
            </a:pPr>
            <a:r>
              <a:rPr lang="en-US" sz="9270" b="1" spc="-45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Arquitectura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28128">
            <a:off x="-5540972" y="4629150"/>
            <a:ext cx="12572236" cy="1954841"/>
            <a:chOff x="0" y="0"/>
            <a:chExt cx="4648716" cy="722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8716" cy="722823"/>
            </a:xfrm>
            <a:custGeom>
              <a:avLst/>
              <a:gdLst/>
              <a:ahLst/>
              <a:cxnLst/>
              <a:rect l="l" t="t" r="r" b="b"/>
              <a:pathLst>
                <a:path w="4648716" h="722823">
                  <a:moveTo>
                    <a:pt x="0" y="0"/>
                  </a:moveTo>
                  <a:lnTo>
                    <a:pt x="4648716" y="0"/>
                  </a:lnTo>
                  <a:lnTo>
                    <a:pt x="4648716" y="722823"/>
                  </a:lnTo>
                  <a:lnTo>
                    <a:pt x="0" y="722823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48716" cy="760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495506" y="-6119134"/>
            <a:ext cx="9584989" cy="9584989"/>
          </a:xfrm>
          <a:custGeom>
            <a:avLst/>
            <a:gdLst/>
            <a:ahLst/>
            <a:cxnLst/>
            <a:rect l="l" t="t" r="r" b="b"/>
            <a:pathLst>
              <a:path w="9584989" h="9584989">
                <a:moveTo>
                  <a:pt x="0" y="0"/>
                </a:moveTo>
                <a:lnTo>
                  <a:pt x="9584988" y="0"/>
                </a:lnTo>
                <a:lnTo>
                  <a:pt x="9584988" y="9584988"/>
                </a:lnTo>
                <a:lnTo>
                  <a:pt x="0" y="9584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3329733" y="1435844"/>
            <a:ext cx="13559427" cy="7415311"/>
          </a:xfrm>
          <a:custGeom>
            <a:avLst/>
            <a:gdLst/>
            <a:ahLst/>
            <a:cxnLst/>
            <a:rect l="l" t="t" r="r" b="b"/>
            <a:pathLst>
              <a:path w="13559427" h="7415311">
                <a:moveTo>
                  <a:pt x="0" y="0"/>
                </a:moveTo>
                <a:lnTo>
                  <a:pt x="13559427" y="0"/>
                </a:lnTo>
                <a:lnTo>
                  <a:pt x="13559427" y="7415312"/>
                </a:lnTo>
                <a:lnTo>
                  <a:pt x="0" y="7415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 rot="-5401628">
            <a:off x="-3655425" y="4039526"/>
            <a:ext cx="8962683" cy="88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8"/>
              </a:lnSpc>
            </a:pPr>
            <a:r>
              <a:rPr lang="en-US" sz="6870" b="1" spc="-33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Modelo de datos (EnR)</a:t>
            </a:r>
          </a:p>
        </p:txBody>
      </p:sp>
      <p:sp>
        <p:nvSpPr>
          <p:cNvPr id="8" name="Freeform 8"/>
          <p:cNvSpPr/>
          <p:nvPr/>
        </p:nvSpPr>
        <p:spPr>
          <a:xfrm>
            <a:off x="178701" y="9771555"/>
            <a:ext cx="1383425" cy="340452"/>
          </a:xfrm>
          <a:custGeom>
            <a:avLst/>
            <a:gdLst/>
            <a:ahLst/>
            <a:cxnLst/>
            <a:rect l="l" t="t" r="r" b="b"/>
            <a:pathLst>
              <a:path w="1383425" h="340452">
                <a:moveTo>
                  <a:pt x="0" y="0"/>
                </a:moveTo>
                <a:lnTo>
                  <a:pt x="1383425" y="0"/>
                </a:lnTo>
                <a:lnTo>
                  <a:pt x="1383425" y="340452"/>
                </a:lnTo>
                <a:lnTo>
                  <a:pt x="0" y="34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5471992" y="0"/>
            <a:ext cx="1877338" cy="1056003"/>
          </a:xfrm>
          <a:custGeom>
            <a:avLst/>
            <a:gdLst/>
            <a:ahLst/>
            <a:cxnLst/>
            <a:rect l="l" t="t" r="r" b="b"/>
            <a:pathLst>
              <a:path w="1877338" h="1056003">
                <a:moveTo>
                  <a:pt x="0" y="0"/>
                </a:moveTo>
                <a:lnTo>
                  <a:pt x="1877339" y="0"/>
                </a:lnTo>
                <a:lnTo>
                  <a:pt x="1877339" y="1056003"/>
                </a:lnTo>
                <a:lnTo>
                  <a:pt x="0" y="10560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01" r="-1330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2629" y="5343365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793343" y="2739865"/>
            <a:ext cx="8701313" cy="1117600"/>
          </a:xfrm>
          <a:custGeom>
            <a:avLst/>
            <a:gdLst/>
            <a:ahLst/>
            <a:cxnLst/>
            <a:rect l="l" t="t" r="r" b="b"/>
            <a:pathLst>
              <a:path w="8701313" h="1117600">
                <a:moveTo>
                  <a:pt x="0" y="0"/>
                </a:moveTo>
                <a:lnTo>
                  <a:pt x="8701314" y="0"/>
                </a:lnTo>
                <a:lnTo>
                  <a:pt x="8701314" y="1117599"/>
                </a:lnTo>
                <a:lnTo>
                  <a:pt x="0" y="1117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414197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Capstone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0761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50400" y="4830057"/>
            <a:ext cx="13139505" cy="142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0"/>
              </a:lnSpc>
            </a:pPr>
            <a:r>
              <a:rPr lang="en-US" sz="10650" b="1" u="sng" spc="-511">
                <a:solidFill>
                  <a:srgbClr val="00BF63"/>
                </a:solidFill>
                <a:latin typeface="TT Hoves Bold"/>
                <a:ea typeface="TT Hoves Bold"/>
                <a:cs typeface="TT Hoves Bold"/>
                <a:sym typeface="TT Hoves Bold"/>
                <a:hlinkClick r:id="rId5" tooltip="http://instacotiza.com"/>
              </a:rPr>
              <a:t>&gt;Demostración</a:t>
            </a:r>
            <a:r>
              <a:rPr lang="en-US" sz="10650" b="1" u="sng" spc="-511">
                <a:solidFill>
                  <a:srgbClr val="00BF63"/>
                </a:solidFill>
                <a:latin typeface="TT Hoves Bold"/>
                <a:ea typeface="TT Hoves Bold"/>
                <a:cs typeface="TT Hoves Bold"/>
                <a:sym typeface="TT Hoves Bold"/>
                <a:hlinkClick r:id="rId5" tooltip="http://instacotiza.com"/>
              </a:rPr>
              <a:t>&lt;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73580" y="285546"/>
            <a:ext cx="2533604" cy="623504"/>
          </a:xfrm>
          <a:custGeom>
            <a:avLst/>
            <a:gdLst/>
            <a:ahLst/>
            <a:cxnLst/>
            <a:rect l="l" t="t" r="r" b="b"/>
            <a:pathLst>
              <a:path w="2533604" h="623504">
                <a:moveTo>
                  <a:pt x="0" y="0"/>
                </a:moveTo>
                <a:lnTo>
                  <a:pt x="2533605" y="0"/>
                </a:lnTo>
                <a:lnTo>
                  <a:pt x="2533605" y="623505"/>
                </a:lnTo>
                <a:lnTo>
                  <a:pt x="0" y="623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462</Words>
  <Application>Microsoft Office PowerPoint</Application>
  <PresentationFormat>Personalizado</PresentationFormat>
  <Paragraphs>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Calibri</vt:lpstr>
      <vt:lpstr>TT Hoves</vt:lpstr>
      <vt:lpstr>Arial</vt:lpstr>
      <vt:lpstr>TT Hoves Bold</vt:lpstr>
      <vt:lpstr>Aileron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FINAL ITCZ</dc:title>
  <cp:lastModifiedBy>Jorge Alberto Muñoz Molina</cp:lastModifiedBy>
  <cp:revision>2</cp:revision>
  <dcterms:created xsi:type="dcterms:W3CDTF">2006-08-16T00:00:00Z</dcterms:created>
  <dcterms:modified xsi:type="dcterms:W3CDTF">2025-12-10T23:13:06Z</dcterms:modified>
  <dc:identifier>DAG6UblwXok</dc:identifier>
</cp:coreProperties>
</file>